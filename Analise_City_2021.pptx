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</p:sldIdLst>
  <p:sldSz cy="5143500" cx="9144000"/>
  <p:notesSz cx="51435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ED6BE9DC-E15B-4B2B-A48B-3F1839405588}">
  <a:tblStyle styleId="{ED6BE9DC-E15B-4B2B-A48B-3F1839405588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22" Type="http://schemas.openxmlformats.org/officeDocument/2006/relationships/slide" Target="slides/slide17.xml"/><Relationship Id="rId10" Type="http://schemas.openxmlformats.org/officeDocument/2006/relationships/slide" Target="slides/slide5.xml"/><Relationship Id="rId21" Type="http://schemas.openxmlformats.org/officeDocument/2006/relationships/slide" Target="slides/slide16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857400" y="685800"/>
            <a:ext cx="342915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" name="Shape 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Google Shape;8;p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" name="Google Shape;9;p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Google Shape;10;p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8" name="Google Shape;18;p2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" name="Google Shape;19;p2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3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0" name="Google Shape;30;p3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" name="Google Shape;31;p3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3" name="Google Shape;43;p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" name="Google Shape;44;p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0" name="Google Shape;80;p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" name="Google Shape;81;p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24" name="Google Shape;124;p6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5" name="Google Shape;125;p6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9" name="Google Shape;139;p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54" name="Google Shape;154;p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9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68" name="Google Shape;168;p9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9" name="Google Shape;169;p9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10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86" name="Google Shape;186;p10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7" name="Google Shape;187;p10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00" name="Google Shape;200;p1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" name="Google Shape;201;p1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12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5" name="Google Shape;225;p12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6" name="Google Shape;226;p12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13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54" name="Google Shape;254;p13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5" name="Google Shape;255;p13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1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63" name="Google Shape;263;p1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4" name="Google Shape;264;p1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7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1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79" name="Google Shape;279;p1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0" name="Google Shape;280;p1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16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11" name="Google Shape;311;p16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2" name="Google Shape;312;p16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1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30" name="Google Shape;330;p1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1" name="Google Shape;331;p1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6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8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9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5346A"/>
        </a:solidFill>
      </p:bgPr>
    </p:bg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"/>
          <p:cNvSpPr/>
          <p:nvPr/>
        </p:nvSpPr>
        <p:spPr>
          <a:xfrm>
            <a:off x="0" y="0"/>
            <a:ext cx="411480" cy="5143500"/>
          </a:xfrm>
          <a:prstGeom prst="rect">
            <a:avLst/>
          </a:prstGeom>
          <a:solidFill>
            <a:srgbClr val="D94801"/>
          </a:solidFill>
          <a:ln cap="flat" cmpd="sng" w="12700">
            <a:solidFill>
              <a:srgbClr val="D9480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" name="Google Shape;13;p3"/>
          <p:cNvSpPr/>
          <p:nvPr/>
        </p:nvSpPr>
        <p:spPr>
          <a:xfrm>
            <a:off x="731520" y="1188720"/>
            <a:ext cx="8046720" cy="1645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400"/>
              <a:buFont typeface="Calibri"/>
              <a:buNone/>
            </a:pPr>
            <a:r>
              <a:rPr b="1" lang="en-US" sz="44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 Metamorfose do</a:t>
            </a:r>
            <a:endParaRPr sz="4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400"/>
              <a:buFont typeface="Calibri"/>
              <a:buNone/>
            </a:pPr>
            <a:r>
              <a:rPr b="1" lang="en-US" sz="44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Manchester City</a:t>
            </a:r>
            <a:endParaRPr sz="4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" name="Google Shape;14;p3"/>
          <p:cNvSpPr/>
          <p:nvPr/>
        </p:nvSpPr>
        <p:spPr>
          <a:xfrm>
            <a:off x="731520" y="2880360"/>
            <a:ext cx="74980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ADCFC"/>
              </a:buClr>
              <a:buSzPts val="1700"/>
              <a:buFont typeface="Calibri"/>
              <a:buNone/>
            </a:pPr>
            <a:r>
              <a:rPr i="1" lang="en-US" sz="1700">
                <a:solidFill>
                  <a:srgbClr val="CADCFC"/>
                </a:solidFill>
                <a:latin typeface="Calibri"/>
                <a:ea typeface="Calibri"/>
                <a:cs typeface="Calibri"/>
                <a:sym typeface="Calibri"/>
              </a:rPr>
              <a:t>Como Pep Guardiola Reinventou o Ataque Sem um Centroavante</a:t>
            </a:r>
            <a:endParaRPr sz="1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" name="Google Shape;15;p3"/>
          <p:cNvSpPr/>
          <p:nvPr/>
        </p:nvSpPr>
        <p:spPr>
          <a:xfrm>
            <a:off x="731520" y="4434840"/>
            <a:ext cx="77724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100"/>
              <a:buFont typeface="Calibri"/>
              <a:buNone/>
            </a:pPr>
            <a:r>
              <a:rPr lang="en-US" sz="1100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Premier League 2020/21  ·  Análise de Dados de Eventos (Understat)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4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D94801"/>
          </a:solidFill>
          <a:ln cap="flat" cmpd="sng" w="12700">
            <a:solidFill>
              <a:srgbClr val="D9480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" name="Google Shape;22;p4"/>
          <p:cNvSpPr/>
          <p:nvPr/>
        </p:nvSpPr>
        <p:spPr>
          <a:xfrm>
            <a:off x="411480" y="164592"/>
            <a:ext cx="83210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8519C"/>
              </a:buClr>
              <a:buSzPts val="2200"/>
              <a:buFont typeface="Calibri"/>
              <a:buNone/>
            </a:pPr>
            <a:r>
              <a:rPr b="1" lang="en-US" sz="2200">
                <a:solidFill>
                  <a:srgbClr val="08519C"/>
                </a:solidFill>
                <a:latin typeface="Calibri"/>
                <a:ea typeface="Calibri"/>
                <a:cs typeface="Calibri"/>
                <a:sym typeface="Calibri"/>
              </a:rPr>
              <a:t>Hipótese Central</a:t>
            </a:r>
            <a:endParaRPr sz="2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23;p4"/>
          <p:cNvSpPr/>
          <p:nvPr/>
        </p:nvSpPr>
        <p:spPr>
          <a:xfrm>
            <a:off x="411480" y="914400"/>
            <a:ext cx="8321040" cy="1691640"/>
          </a:xfrm>
          <a:prstGeom prst="rect">
            <a:avLst/>
          </a:prstGeom>
          <a:solidFill>
            <a:srgbClr val="05346A"/>
          </a:solidFill>
          <a:ln cap="flat" cmpd="sng" w="12700">
            <a:solidFill>
              <a:srgbClr val="05346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" name="Google Shape;24;p4"/>
          <p:cNvSpPr/>
          <p:nvPr/>
        </p:nvSpPr>
        <p:spPr>
          <a:xfrm>
            <a:off x="594360" y="960120"/>
            <a:ext cx="7955280" cy="160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50"/>
              <a:buFont typeface="Calibri"/>
              <a:buNone/>
            </a:pPr>
            <a:r>
              <a:rPr i="1" lang="en-US" sz="14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"Após a lesão de Sergio Agüero em 24 de outubro de 2020, o Manchester City não apenas adaptou seu sistema — ele o transformou estruturalmente, migrando de um modelo de finalização concentrada para um de dispersão coletiva."</a:t>
            </a:r>
            <a:endParaRPr sz="14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" name="Google Shape;25;p4"/>
          <p:cNvSpPr/>
          <p:nvPr/>
        </p:nvSpPr>
        <p:spPr>
          <a:xfrm>
            <a:off x="411480" y="2788920"/>
            <a:ext cx="8321040" cy="1417320"/>
          </a:xfrm>
          <a:prstGeom prst="rect">
            <a:avLst/>
          </a:prstGeom>
          <a:solidFill>
            <a:srgbClr val="EBF2FA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" name="Google Shape;26;p4"/>
          <p:cNvSpPr/>
          <p:nvPr/>
        </p:nvSpPr>
        <p:spPr>
          <a:xfrm>
            <a:off x="411480" y="2788920"/>
            <a:ext cx="73152" cy="1417320"/>
          </a:xfrm>
          <a:prstGeom prst="rect">
            <a:avLst/>
          </a:prstGeom>
          <a:solidFill>
            <a:srgbClr val="D94801"/>
          </a:solidFill>
          <a:ln cap="flat" cmpd="sng" w="12700">
            <a:solidFill>
              <a:srgbClr val="D9480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" name="Google Shape;27;p4"/>
          <p:cNvSpPr/>
          <p:nvPr/>
        </p:nvSpPr>
        <p:spPr>
          <a:xfrm>
            <a:off x="594360" y="2834640"/>
            <a:ext cx="7955280" cy="1325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8519C"/>
              </a:buClr>
              <a:buSzPts val="1400"/>
              <a:buFont typeface="Calibri"/>
              <a:buNone/>
            </a:pPr>
            <a:r>
              <a:rPr b="1" lang="en-US" sz="1400">
                <a:solidFill>
                  <a:srgbClr val="08519C"/>
                </a:solidFill>
                <a:latin typeface="Calibri"/>
                <a:ea typeface="Calibri"/>
                <a:cs typeface="Calibri"/>
                <a:sym typeface="Calibri"/>
              </a:rPr>
              <a:t>Pergunta guia: </a:t>
            </a:r>
            <a:r>
              <a:rPr lang="en-US" sz="140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"O papel do centroavante não foi eliminado, mas redistribuído: a </a:t>
            </a:r>
            <a:r>
              <a:rPr b="1" i="1" lang="en-US" sz="1400">
                <a:solidFill>
                  <a:srgbClr val="D94801"/>
                </a:solidFill>
                <a:latin typeface="Calibri"/>
                <a:ea typeface="Calibri"/>
                <a:cs typeface="Calibri"/>
                <a:sym typeface="Calibri"/>
              </a:rPr>
              <a:t>zona</a:t>
            </a:r>
            <a:r>
              <a:rPr lang="en-US" sz="140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 passou a exercer a função que antes era </a:t>
            </a:r>
            <a:r>
              <a:rPr b="1" i="1" lang="en-US" sz="1400">
                <a:solidFill>
                  <a:srgbClr val="08519C"/>
                </a:solidFill>
                <a:latin typeface="Calibri"/>
                <a:ea typeface="Calibri"/>
                <a:cs typeface="Calibri"/>
                <a:sym typeface="Calibri"/>
              </a:rPr>
              <a:t>individual</a:t>
            </a:r>
            <a:r>
              <a:rPr lang="en-US" sz="140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."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5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8519C"/>
          </a:solidFill>
          <a:ln cap="flat" cmpd="sng" w="12700">
            <a:solidFill>
              <a:srgbClr val="08519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" name="Google Shape;34;p5"/>
          <p:cNvSpPr/>
          <p:nvPr/>
        </p:nvSpPr>
        <p:spPr>
          <a:xfrm>
            <a:off x="411480" y="164592"/>
            <a:ext cx="83210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8519C"/>
              </a:buClr>
              <a:buSzPts val="2200"/>
              <a:buFont typeface="Calibri"/>
              <a:buNone/>
            </a:pPr>
            <a:r>
              <a:rPr b="1" lang="en-US" sz="2200">
                <a:solidFill>
                  <a:srgbClr val="08519C"/>
                </a:solidFill>
                <a:latin typeface="Calibri"/>
                <a:ea typeface="Calibri"/>
                <a:cs typeface="Calibri"/>
                <a:sym typeface="Calibri"/>
              </a:rPr>
              <a:t>O Contexto da Análise</a:t>
            </a:r>
            <a:endParaRPr sz="2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" name="Google Shape;35;p5"/>
          <p:cNvSpPr/>
          <p:nvPr/>
        </p:nvSpPr>
        <p:spPr>
          <a:xfrm>
            <a:off x="411475" y="822900"/>
            <a:ext cx="3807900" cy="2313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250"/>
              <a:buFont typeface="Calibri"/>
              <a:buNone/>
            </a:pPr>
            <a:r>
              <a:rPr b="1" lang="en-US" sz="12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Início irregular do City em 2020/21</a:t>
            </a:r>
            <a:endParaRPr sz="12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250"/>
              <a:buFont typeface="Calibri"/>
              <a:buNone/>
            </a:pPr>
            <a:r>
              <a:rPr lang="en-US" sz="125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Esperado favorito ao título, a equipe oscilou nas primeiras rodadas sem consistência ofensiva.</a:t>
            </a:r>
            <a:endParaRPr sz="12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250"/>
              <a:buFont typeface="Calibri"/>
              <a:buNone/>
            </a:pPr>
            <a:r>
              <a:t/>
            </a:r>
            <a:endParaRPr sz="12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250"/>
              <a:buFont typeface="Calibri"/>
              <a:buNone/>
            </a:pPr>
            <a:r>
              <a:rPr b="1" lang="en-US" sz="12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Lesão do único centroavante de referência</a:t>
            </a:r>
            <a:endParaRPr sz="12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250"/>
              <a:buFont typeface="Calibri"/>
              <a:buNone/>
            </a:pPr>
            <a:r>
              <a:rPr lang="en-US" sz="125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Sergio Agüero lesionou-se em 24/out/2020, deixando o time sem um 9 tradicional.</a:t>
            </a:r>
            <a:br>
              <a:rPr lang="en-US" sz="12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2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250"/>
              <a:buFont typeface="Calibri"/>
              <a:buNone/>
            </a:pPr>
            <a:r>
              <a:rPr b="1" lang="en-US" sz="12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15 vitórias consecutivas a partir de janeiro 2021</a:t>
            </a:r>
            <a:endParaRPr sz="12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250"/>
              <a:buFont typeface="Calibri"/>
              <a:buNone/>
            </a:pPr>
            <a:r>
              <a:rPr lang="en-US" sz="125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Em vez de enfraquecer o time, a ausência de Agüero acelerou uma transformação sistêmica que culminou no título da Premier League.</a:t>
            </a:r>
            <a:endParaRPr sz="12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" name="Google Shape;36;p5"/>
          <p:cNvSpPr/>
          <p:nvPr/>
        </p:nvSpPr>
        <p:spPr>
          <a:xfrm>
            <a:off x="2185050" y="3568200"/>
            <a:ext cx="4372800" cy="1575300"/>
          </a:xfrm>
          <a:prstGeom prst="rect">
            <a:avLst/>
          </a:prstGeom>
          <a:solidFill>
            <a:srgbClr val="EBF2FA"/>
          </a:solidFill>
          <a:ln cap="flat" cmpd="sng" w="115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1450" lIns="82925" spcFirstLastPara="1" rIns="82925" wrap="square" tIns="414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32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" name="Google Shape;37;p5"/>
          <p:cNvSpPr/>
          <p:nvPr/>
        </p:nvSpPr>
        <p:spPr>
          <a:xfrm>
            <a:off x="2185050" y="3247350"/>
            <a:ext cx="4372800" cy="315300"/>
          </a:xfrm>
          <a:prstGeom prst="rect">
            <a:avLst/>
          </a:prstGeom>
          <a:solidFill>
            <a:srgbClr val="08519C"/>
          </a:solidFill>
          <a:ln cap="flat" cmpd="sng" w="11500">
            <a:solidFill>
              <a:srgbClr val="08519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1450" lIns="82925" spcFirstLastPara="1" rIns="82925" wrap="square" tIns="414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32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" name="Google Shape;38;p5"/>
          <p:cNvSpPr/>
          <p:nvPr/>
        </p:nvSpPr>
        <p:spPr>
          <a:xfrm>
            <a:off x="2185050" y="3247350"/>
            <a:ext cx="4372800" cy="31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98"/>
              <a:buFont typeface="Calibri"/>
              <a:buNone/>
            </a:pPr>
            <a:r>
              <a:rPr b="1" lang="en-US" sz="998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DADOS</a:t>
            </a:r>
            <a:endParaRPr sz="998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" name="Google Shape;39;p5"/>
          <p:cNvSpPr/>
          <p:nvPr/>
        </p:nvSpPr>
        <p:spPr>
          <a:xfrm>
            <a:off x="2314100" y="3673800"/>
            <a:ext cx="4300200" cy="1364100"/>
          </a:xfrm>
          <a:prstGeom prst="rect">
            <a:avLst/>
          </a:prstGeom>
          <a:noFill/>
          <a:ln>
            <a:noFill/>
          </a:ln>
        </p:spPr>
        <p:txBody>
          <a:bodyPr anchorCtr="0" anchor="t" bIns="41450" lIns="82925" spcFirstLastPara="1" rIns="82925" wrap="square" tIns="414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8519C"/>
              </a:buClr>
              <a:buSzPts val="998"/>
              <a:buFont typeface="Calibri"/>
              <a:buNone/>
            </a:pPr>
            <a:r>
              <a:rPr b="1" lang="en-US" sz="998">
                <a:solidFill>
                  <a:srgbClr val="08519C"/>
                </a:solidFill>
                <a:latin typeface="Calibri"/>
                <a:ea typeface="Calibri"/>
                <a:cs typeface="Calibri"/>
                <a:sym typeface="Calibri"/>
              </a:rPr>
              <a:t>Fonte:			            </a:t>
            </a:r>
            <a:r>
              <a:rPr b="1" lang="en-US" sz="998">
                <a:solidFill>
                  <a:srgbClr val="08519C"/>
                </a:solidFill>
                <a:latin typeface="Calibri"/>
                <a:ea typeface="Calibri"/>
                <a:cs typeface="Calibri"/>
                <a:sym typeface="Calibri"/>
              </a:rPr>
              <a:t>Chutes analisados:</a:t>
            </a:r>
            <a:br>
              <a:rPr b="1" lang="en-US" sz="998">
                <a:solidFill>
                  <a:srgbClr val="08519C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998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998"/>
              <a:buFont typeface="Calibri"/>
              <a:buNone/>
            </a:pPr>
            <a:r>
              <a:rPr lang="en-US" sz="998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Understat via soccerdata	            </a:t>
            </a:r>
            <a:r>
              <a:rPr lang="en-US" sz="998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601 eventos do Manchester City</a:t>
            </a:r>
            <a:br>
              <a:rPr lang="en-US" sz="998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998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8519C"/>
              </a:buClr>
              <a:buSzPts val="998"/>
              <a:buFont typeface="Calibri"/>
              <a:buNone/>
            </a:pPr>
            <a:r>
              <a:rPr b="1" lang="en-US" sz="998">
                <a:solidFill>
                  <a:srgbClr val="08519C"/>
                </a:solidFill>
                <a:latin typeface="Calibri"/>
                <a:ea typeface="Calibri"/>
                <a:cs typeface="Calibri"/>
                <a:sym typeface="Calibri"/>
              </a:rPr>
              <a:t>Competição:		            </a:t>
            </a:r>
            <a:r>
              <a:rPr b="1" lang="en-US" sz="998">
                <a:solidFill>
                  <a:srgbClr val="08519C"/>
                </a:solidFill>
                <a:latin typeface="Calibri"/>
                <a:ea typeface="Calibri"/>
                <a:cs typeface="Calibri"/>
                <a:sym typeface="Calibri"/>
              </a:rPr>
              <a:t>Dados por chute:</a:t>
            </a:r>
            <a:br>
              <a:rPr b="1" lang="en-US" sz="998">
                <a:solidFill>
                  <a:srgbClr val="08519C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998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998"/>
              <a:buFont typeface="Calibri"/>
              <a:buNone/>
            </a:pPr>
            <a:r>
              <a:rPr lang="en-US" sz="998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Premier League 2020/21	            </a:t>
            </a:r>
            <a:r>
              <a:rPr lang="en-US" sz="998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Coordenadas XY, xG,</a:t>
            </a:r>
            <a:r>
              <a:rPr lang="en-US" sz="998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r</a:t>
            </a:r>
            <a:r>
              <a:rPr lang="en-US" sz="998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esultado, jogador, data</a:t>
            </a:r>
            <a:br>
              <a:rPr lang="en-US" sz="998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998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0" name="Google Shape;40;p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81900" y="551369"/>
            <a:ext cx="3807901" cy="25386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D94801"/>
          </a:solidFill>
          <a:ln cap="flat" cmpd="sng" w="12700">
            <a:solidFill>
              <a:srgbClr val="D9480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" name="Google Shape;47;p6"/>
          <p:cNvSpPr/>
          <p:nvPr/>
        </p:nvSpPr>
        <p:spPr>
          <a:xfrm>
            <a:off x="411480" y="164592"/>
            <a:ext cx="83210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8519C"/>
              </a:buClr>
              <a:buSzPts val="2200"/>
              <a:buFont typeface="Calibri"/>
              <a:buNone/>
            </a:pPr>
            <a:r>
              <a:rPr b="1" lang="en-US" sz="2200">
                <a:solidFill>
                  <a:srgbClr val="08519C"/>
                </a:solidFill>
                <a:latin typeface="Calibri"/>
                <a:ea typeface="Calibri"/>
                <a:cs typeface="Calibri"/>
                <a:sym typeface="Calibri"/>
              </a:rPr>
              <a:t>Estrutura da Investigação</a:t>
            </a:r>
            <a:endParaRPr sz="2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" name="Google Shape;48;p6"/>
          <p:cNvSpPr/>
          <p:nvPr/>
        </p:nvSpPr>
        <p:spPr>
          <a:xfrm>
            <a:off x="320040" y="960120"/>
            <a:ext cx="8503920" cy="621792"/>
          </a:xfrm>
          <a:prstGeom prst="rect">
            <a:avLst/>
          </a:prstGeom>
          <a:solidFill>
            <a:srgbClr val="F5F7FA"/>
          </a:solidFill>
          <a:ln cap="flat" cmpd="sng" w="12700">
            <a:solidFill>
              <a:srgbClr val="F5F7F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" name="Google Shape;49;p6"/>
          <p:cNvSpPr/>
          <p:nvPr/>
        </p:nvSpPr>
        <p:spPr>
          <a:xfrm>
            <a:off x="365760" y="1051560"/>
            <a:ext cx="438912" cy="438912"/>
          </a:xfrm>
          <a:prstGeom prst="ellipse">
            <a:avLst/>
          </a:prstGeom>
          <a:solidFill>
            <a:srgbClr val="08519C"/>
          </a:solidFill>
          <a:ln cap="flat" cmpd="sng" w="12700">
            <a:solidFill>
              <a:srgbClr val="08519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" name="Google Shape;50;p6"/>
          <p:cNvSpPr/>
          <p:nvPr/>
        </p:nvSpPr>
        <p:spPr>
          <a:xfrm>
            <a:off x="365760" y="1051560"/>
            <a:ext cx="438912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lang="en-US" sz="14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6"/>
          <p:cNvSpPr/>
          <p:nvPr/>
        </p:nvSpPr>
        <p:spPr>
          <a:xfrm>
            <a:off x="886968" y="1005840"/>
            <a:ext cx="29260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8519C"/>
              </a:buClr>
              <a:buSzPts val="1250"/>
              <a:buFont typeface="Calibri"/>
              <a:buNone/>
            </a:pPr>
            <a:r>
              <a:rPr b="1" lang="en-US" sz="1250">
                <a:solidFill>
                  <a:srgbClr val="08519C"/>
                </a:solidFill>
                <a:latin typeface="Calibri"/>
                <a:ea typeface="Calibri"/>
                <a:cs typeface="Calibri"/>
                <a:sym typeface="Calibri"/>
              </a:rPr>
              <a:t>Periodização Tática</a:t>
            </a:r>
            <a:endParaRPr sz="12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" name="Google Shape;52;p6"/>
          <p:cNvSpPr/>
          <p:nvPr/>
        </p:nvSpPr>
        <p:spPr>
          <a:xfrm>
            <a:off x="886968" y="1261872"/>
            <a:ext cx="78181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100"/>
              <a:buFont typeface="Calibri"/>
              <a:buNone/>
            </a:pPr>
            <a:r>
              <a:rPr i="1" lang="en-US" sz="110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Quando exatamente ocorreu a transição sistêmica?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" name="Google Shape;53;p6"/>
          <p:cNvSpPr/>
          <p:nvPr/>
        </p:nvSpPr>
        <p:spPr>
          <a:xfrm>
            <a:off x="320040" y="1627632"/>
            <a:ext cx="8503920" cy="621792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" name="Google Shape;54;p6"/>
          <p:cNvSpPr/>
          <p:nvPr/>
        </p:nvSpPr>
        <p:spPr>
          <a:xfrm>
            <a:off x="365760" y="1719072"/>
            <a:ext cx="438912" cy="438912"/>
          </a:xfrm>
          <a:prstGeom prst="ellipse">
            <a:avLst/>
          </a:prstGeom>
          <a:solidFill>
            <a:srgbClr val="08519C"/>
          </a:solidFill>
          <a:ln cap="flat" cmpd="sng" w="12700">
            <a:solidFill>
              <a:srgbClr val="08519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" name="Google Shape;55;p6"/>
          <p:cNvSpPr/>
          <p:nvPr/>
        </p:nvSpPr>
        <p:spPr>
          <a:xfrm>
            <a:off x="365760" y="1719072"/>
            <a:ext cx="438912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lang="en-US" sz="14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" name="Google Shape;56;p6"/>
          <p:cNvSpPr/>
          <p:nvPr/>
        </p:nvSpPr>
        <p:spPr>
          <a:xfrm>
            <a:off x="886968" y="1673352"/>
            <a:ext cx="29260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8519C"/>
              </a:buClr>
              <a:buSzPts val="1250"/>
              <a:buFont typeface="Calibri"/>
              <a:buNone/>
            </a:pPr>
            <a:r>
              <a:rPr b="1" lang="en-US" sz="1250">
                <a:solidFill>
                  <a:srgbClr val="08519C"/>
                </a:solidFill>
                <a:latin typeface="Calibri"/>
                <a:ea typeface="Calibri"/>
                <a:cs typeface="Calibri"/>
                <a:sym typeface="Calibri"/>
              </a:rPr>
              <a:t>Estabilidade Espacial</a:t>
            </a:r>
            <a:endParaRPr sz="12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" name="Google Shape;57;p6"/>
          <p:cNvSpPr/>
          <p:nvPr/>
        </p:nvSpPr>
        <p:spPr>
          <a:xfrm>
            <a:off x="886968" y="1929384"/>
            <a:ext cx="78181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100"/>
              <a:buFont typeface="Calibri"/>
              <a:buNone/>
            </a:pPr>
            <a:r>
              <a:rPr i="1" lang="en-US" sz="110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As zonas de chute realmente permaneceram estáveis?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" name="Google Shape;58;p6"/>
          <p:cNvSpPr/>
          <p:nvPr/>
        </p:nvSpPr>
        <p:spPr>
          <a:xfrm>
            <a:off x="320040" y="2295144"/>
            <a:ext cx="8503920" cy="621792"/>
          </a:xfrm>
          <a:prstGeom prst="rect">
            <a:avLst/>
          </a:prstGeom>
          <a:solidFill>
            <a:srgbClr val="F5F7FA"/>
          </a:solidFill>
          <a:ln cap="flat" cmpd="sng" w="12700">
            <a:solidFill>
              <a:srgbClr val="F5F7F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" name="Google Shape;59;p6"/>
          <p:cNvSpPr/>
          <p:nvPr/>
        </p:nvSpPr>
        <p:spPr>
          <a:xfrm>
            <a:off x="365760" y="2386584"/>
            <a:ext cx="438912" cy="438912"/>
          </a:xfrm>
          <a:prstGeom prst="ellipse">
            <a:avLst/>
          </a:prstGeom>
          <a:solidFill>
            <a:srgbClr val="08519C"/>
          </a:solidFill>
          <a:ln cap="flat" cmpd="sng" w="12700">
            <a:solidFill>
              <a:srgbClr val="08519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" name="Google Shape;60;p6"/>
          <p:cNvSpPr/>
          <p:nvPr/>
        </p:nvSpPr>
        <p:spPr>
          <a:xfrm>
            <a:off x="365760" y="2386584"/>
            <a:ext cx="438912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lang="en-US" sz="14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" name="Google Shape;61;p6"/>
          <p:cNvSpPr/>
          <p:nvPr/>
        </p:nvSpPr>
        <p:spPr>
          <a:xfrm>
            <a:off x="886968" y="2340864"/>
            <a:ext cx="29260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8519C"/>
              </a:buClr>
              <a:buSzPts val="1250"/>
              <a:buFont typeface="Calibri"/>
              <a:buNone/>
            </a:pPr>
            <a:r>
              <a:rPr b="1" lang="en-US" sz="1250">
                <a:solidFill>
                  <a:srgbClr val="08519C"/>
                </a:solidFill>
                <a:latin typeface="Calibri"/>
                <a:ea typeface="Calibri"/>
                <a:cs typeface="Calibri"/>
                <a:sym typeface="Calibri"/>
              </a:rPr>
              <a:t>Redistribuição dos Finalizadores</a:t>
            </a:r>
            <a:endParaRPr sz="12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" name="Google Shape;62;p6"/>
          <p:cNvSpPr/>
          <p:nvPr/>
        </p:nvSpPr>
        <p:spPr>
          <a:xfrm>
            <a:off x="886968" y="2596896"/>
            <a:ext cx="78181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100"/>
              <a:buFont typeface="Calibri"/>
              <a:buNone/>
            </a:pPr>
            <a:r>
              <a:rPr i="1" lang="en-US" sz="110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Quem passou a finalizar mais — e por quê?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" name="Google Shape;63;p6"/>
          <p:cNvSpPr/>
          <p:nvPr/>
        </p:nvSpPr>
        <p:spPr>
          <a:xfrm>
            <a:off x="320040" y="2962656"/>
            <a:ext cx="8503920" cy="621792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" name="Google Shape;64;p6"/>
          <p:cNvSpPr/>
          <p:nvPr/>
        </p:nvSpPr>
        <p:spPr>
          <a:xfrm>
            <a:off x="365760" y="3054096"/>
            <a:ext cx="438912" cy="438912"/>
          </a:xfrm>
          <a:prstGeom prst="ellipse">
            <a:avLst/>
          </a:prstGeom>
          <a:solidFill>
            <a:srgbClr val="08519C"/>
          </a:solidFill>
          <a:ln cap="flat" cmpd="sng" w="12700">
            <a:solidFill>
              <a:srgbClr val="08519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" name="Google Shape;65;p6"/>
          <p:cNvSpPr/>
          <p:nvPr/>
        </p:nvSpPr>
        <p:spPr>
          <a:xfrm>
            <a:off x="365760" y="3054096"/>
            <a:ext cx="438912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lang="en-US" sz="14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" name="Google Shape;66;p6"/>
          <p:cNvSpPr/>
          <p:nvPr/>
        </p:nvSpPr>
        <p:spPr>
          <a:xfrm>
            <a:off x="886968" y="3008376"/>
            <a:ext cx="29260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8519C"/>
              </a:buClr>
              <a:buSzPts val="1250"/>
              <a:buFont typeface="Calibri"/>
              <a:buNone/>
            </a:pPr>
            <a:r>
              <a:rPr b="1" lang="en-US" sz="1250">
                <a:solidFill>
                  <a:srgbClr val="08519C"/>
                </a:solidFill>
                <a:latin typeface="Calibri"/>
                <a:ea typeface="Calibri"/>
                <a:cs typeface="Calibri"/>
                <a:sym typeface="Calibri"/>
              </a:rPr>
              <a:t>Índice HHI</a:t>
            </a:r>
            <a:endParaRPr sz="12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" name="Google Shape;67;p6"/>
          <p:cNvSpPr/>
          <p:nvPr/>
        </p:nvSpPr>
        <p:spPr>
          <a:xfrm>
            <a:off x="886968" y="3264408"/>
            <a:ext cx="78181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100"/>
              <a:buFont typeface="Calibri"/>
              <a:buNone/>
            </a:pPr>
            <a:r>
              <a:rPr i="1" lang="en-US" sz="110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O sistema ficou objetivamente menos concentrado?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" name="Google Shape;68;p6"/>
          <p:cNvSpPr/>
          <p:nvPr/>
        </p:nvSpPr>
        <p:spPr>
          <a:xfrm>
            <a:off x="320040" y="3630168"/>
            <a:ext cx="8503920" cy="621792"/>
          </a:xfrm>
          <a:prstGeom prst="rect">
            <a:avLst/>
          </a:prstGeom>
          <a:solidFill>
            <a:srgbClr val="F5F7FA"/>
          </a:solidFill>
          <a:ln cap="flat" cmpd="sng" w="12700">
            <a:solidFill>
              <a:srgbClr val="F5F7F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" name="Google Shape;69;p6"/>
          <p:cNvSpPr/>
          <p:nvPr/>
        </p:nvSpPr>
        <p:spPr>
          <a:xfrm>
            <a:off x="365760" y="3721608"/>
            <a:ext cx="438912" cy="438912"/>
          </a:xfrm>
          <a:prstGeom prst="ellipse">
            <a:avLst/>
          </a:prstGeom>
          <a:solidFill>
            <a:srgbClr val="08519C"/>
          </a:solidFill>
          <a:ln cap="flat" cmpd="sng" w="12700">
            <a:solidFill>
              <a:srgbClr val="08519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" name="Google Shape;70;p6"/>
          <p:cNvSpPr/>
          <p:nvPr/>
        </p:nvSpPr>
        <p:spPr>
          <a:xfrm>
            <a:off x="365760" y="3721608"/>
            <a:ext cx="438912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lang="en-US" sz="14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" name="Google Shape;71;p6"/>
          <p:cNvSpPr/>
          <p:nvPr/>
        </p:nvSpPr>
        <p:spPr>
          <a:xfrm>
            <a:off x="886968" y="3675888"/>
            <a:ext cx="29260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8519C"/>
              </a:buClr>
              <a:buSzPts val="1250"/>
              <a:buFont typeface="Calibri"/>
              <a:buNone/>
            </a:pPr>
            <a:r>
              <a:rPr b="1" lang="en-US" sz="1250">
                <a:solidFill>
                  <a:srgbClr val="08519C"/>
                </a:solidFill>
                <a:latin typeface="Calibri"/>
                <a:ea typeface="Calibri"/>
                <a:cs typeface="Calibri"/>
                <a:sym typeface="Calibri"/>
              </a:rPr>
              <a:t>Estudo de Caso: Gündogan</a:t>
            </a:r>
            <a:endParaRPr sz="12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" name="Google Shape;72;p6"/>
          <p:cNvSpPr/>
          <p:nvPr/>
        </p:nvSpPr>
        <p:spPr>
          <a:xfrm>
            <a:off x="886968" y="3931920"/>
            <a:ext cx="78181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100"/>
              <a:buFont typeface="Calibri"/>
              <a:buNone/>
            </a:pPr>
            <a:r>
              <a:rPr i="1" lang="en-US" sz="110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Como um meia se tornou artilheiro do título?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" name="Google Shape;73;p6"/>
          <p:cNvSpPr/>
          <p:nvPr/>
        </p:nvSpPr>
        <p:spPr>
          <a:xfrm>
            <a:off x="320040" y="4297680"/>
            <a:ext cx="8503920" cy="621792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" name="Google Shape;74;p6"/>
          <p:cNvSpPr/>
          <p:nvPr/>
        </p:nvSpPr>
        <p:spPr>
          <a:xfrm>
            <a:off x="365760" y="4389120"/>
            <a:ext cx="438912" cy="438912"/>
          </a:xfrm>
          <a:prstGeom prst="ellipse">
            <a:avLst/>
          </a:prstGeom>
          <a:solidFill>
            <a:srgbClr val="08519C"/>
          </a:solidFill>
          <a:ln cap="flat" cmpd="sng" w="12700">
            <a:solidFill>
              <a:srgbClr val="08519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6"/>
          <p:cNvSpPr/>
          <p:nvPr/>
        </p:nvSpPr>
        <p:spPr>
          <a:xfrm>
            <a:off x="365760" y="4389120"/>
            <a:ext cx="438912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lang="en-US" sz="14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" name="Google Shape;76;p6"/>
          <p:cNvSpPr/>
          <p:nvPr/>
        </p:nvSpPr>
        <p:spPr>
          <a:xfrm>
            <a:off x="886968" y="4343400"/>
            <a:ext cx="29260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8519C"/>
              </a:buClr>
              <a:buSzPts val="1250"/>
              <a:buFont typeface="Calibri"/>
              <a:buNone/>
            </a:pPr>
            <a:r>
              <a:rPr b="1" lang="en-US" sz="1250">
                <a:solidFill>
                  <a:srgbClr val="08519C"/>
                </a:solidFill>
                <a:latin typeface="Calibri"/>
                <a:ea typeface="Calibri"/>
                <a:cs typeface="Calibri"/>
                <a:sym typeface="Calibri"/>
              </a:rPr>
              <a:t>Qualidade vs. Quantidade</a:t>
            </a:r>
            <a:endParaRPr sz="12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" name="Google Shape;77;p6"/>
          <p:cNvSpPr/>
          <p:nvPr/>
        </p:nvSpPr>
        <p:spPr>
          <a:xfrm>
            <a:off x="886968" y="4599432"/>
            <a:ext cx="78181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100"/>
              <a:buFont typeface="Calibri"/>
              <a:buNone/>
            </a:pPr>
            <a:r>
              <a:rPr i="1" lang="en-US" sz="110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O sistema criou chances melhores ou apenas redistribuiu?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7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8519C"/>
          </a:solidFill>
          <a:ln cap="flat" cmpd="sng" w="12700">
            <a:solidFill>
              <a:srgbClr val="08519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" name="Google Shape;84;p7"/>
          <p:cNvSpPr/>
          <p:nvPr/>
        </p:nvSpPr>
        <p:spPr>
          <a:xfrm>
            <a:off x="411480" y="164592"/>
            <a:ext cx="83210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8519C"/>
              </a:buClr>
              <a:buSzPts val="2200"/>
              <a:buFont typeface="Calibri"/>
              <a:buNone/>
            </a:pPr>
            <a:r>
              <a:rPr b="1" lang="en-US" sz="2200">
                <a:solidFill>
                  <a:srgbClr val="08519C"/>
                </a:solidFill>
                <a:latin typeface="Calibri"/>
                <a:ea typeface="Calibri"/>
                <a:cs typeface="Calibri"/>
                <a:sym typeface="Calibri"/>
              </a:rPr>
              <a:t>Seção 1 — Periodização Tática</a:t>
            </a:r>
            <a:endParaRPr sz="2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7"/>
          <p:cNvSpPr/>
          <p:nvPr/>
        </p:nvSpPr>
        <p:spPr>
          <a:xfrm>
            <a:off x="411480" y="658368"/>
            <a:ext cx="83210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300"/>
              <a:buFont typeface="Calibri"/>
              <a:buNone/>
            </a:pPr>
            <a:r>
              <a:rPr i="1" lang="en-US" sz="130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Quando ocorreu a transição sistêmica?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7"/>
          <p:cNvSpPr/>
          <p:nvPr/>
        </p:nvSpPr>
        <p:spPr>
          <a:xfrm>
            <a:off x="320040" y="1188720"/>
            <a:ext cx="2697480" cy="2926080"/>
          </a:xfrm>
          <a:prstGeom prst="rect">
            <a:avLst/>
          </a:prstGeom>
          <a:solidFill>
            <a:srgbClr val="FEF3C7"/>
          </a:solidFill>
          <a:ln cap="flat" cmpd="sng" w="12700">
            <a:solidFill>
              <a:srgbClr val="FEF3C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Google Shape;87;p7"/>
          <p:cNvSpPr/>
          <p:nvPr/>
        </p:nvSpPr>
        <p:spPr>
          <a:xfrm>
            <a:off x="320040" y="1188720"/>
            <a:ext cx="2697480" cy="457200"/>
          </a:xfrm>
          <a:prstGeom prst="rect">
            <a:avLst/>
          </a:prstGeom>
          <a:solidFill>
            <a:srgbClr val="D94801"/>
          </a:solidFill>
          <a:ln cap="flat" cmpd="sng" w="12700">
            <a:solidFill>
              <a:srgbClr val="D9480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" name="Google Shape;88;p7"/>
          <p:cNvSpPr/>
          <p:nvPr/>
        </p:nvSpPr>
        <p:spPr>
          <a:xfrm>
            <a:off x="320040" y="1188720"/>
            <a:ext cx="26974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1" lang="en-US" sz="1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FASE 1 · Pré-Lesão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" name="Google Shape;89;p7"/>
          <p:cNvSpPr/>
          <p:nvPr/>
        </p:nvSpPr>
        <p:spPr>
          <a:xfrm>
            <a:off x="429768" y="1737360"/>
            <a:ext cx="24688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Calibri"/>
              <a:buNone/>
            </a:pPr>
            <a:r>
              <a:rPr b="1" lang="en-US" sz="100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Período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" name="Google Shape;90;p7"/>
          <p:cNvSpPr/>
          <p:nvPr/>
        </p:nvSpPr>
        <p:spPr>
          <a:xfrm>
            <a:off x="429768" y="1920240"/>
            <a:ext cx="2468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94801"/>
              </a:buClr>
              <a:buSzPts val="1300"/>
              <a:buFont typeface="Calibri"/>
              <a:buNone/>
            </a:pPr>
            <a:r>
              <a:rPr b="1" lang="en-US" sz="1300">
                <a:solidFill>
                  <a:srgbClr val="D94801"/>
                </a:solidFill>
                <a:latin typeface="Calibri"/>
                <a:ea typeface="Calibri"/>
                <a:cs typeface="Calibri"/>
                <a:sym typeface="Calibri"/>
              </a:rPr>
              <a:t>21/set → 24/out 2020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" name="Google Shape;91;p7"/>
          <p:cNvSpPr/>
          <p:nvPr/>
        </p:nvSpPr>
        <p:spPr>
          <a:xfrm>
            <a:off x="429768" y="2304288"/>
            <a:ext cx="24688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Calibri"/>
              <a:buNone/>
            </a:pPr>
            <a:r>
              <a:rPr b="1" lang="en-US" sz="100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Chutes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7"/>
          <p:cNvSpPr/>
          <p:nvPr/>
        </p:nvSpPr>
        <p:spPr>
          <a:xfrm>
            <a:off x="429768" y="2487168"/>
            <a:ext cx="2468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94801"/>
              </a:buClr>
              <a:buSzPts val="1300"/>
              <a:buFont typeface="Calibri"/>
              <a:buNone/>
            </a:pPr>
            <a:r>
              <a:rPr b="1" lang="en-US" sz="1300">
                <a:solidFill>
                  <a:srgbClr val="D94801"/>
                </a:solidFill>
                <a:latin typeface="Calibri"/>
                <a:ea typeface="Calibri"/>
                <a:cs typeface="Calibri"/>
                <a:sym typeface="Calibri"/>
              </a:rPr>
              <a:t>66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" name="Google Shape;93;p7"/>
          <p:cNvSpPr/>
          <p:nvPr/>
        </p:nvSpPr>
        <p:spPr>
          <a:xfrm>
            <a:off x="429768" y="2871216"/>
            <a:ext cx="24688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Calibri"/>
              <a:buNone/>
            </a:pPr>
            <a:r>
              <a:rPr b="1" lang="en-US" sz="100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Jogos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7"/>
          <p:cNvSpPr/>
          <p:nvPr/>
        </p:nvSpPr>
        <p:spPr>
          <a:xfrm>
            <a:off x="429768" y="3054096"/>
            <a:ext cx="2468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94801"/>
              </a:buClr>
              <a:buSzPts val="1300"/>
              <a:buFont typeface="Calibri"/>
              <a:buNone/>
            </a:pPr>
            <a:r>
              <a:rPr b="1" lang="en-US" sz="1300">
                <a:solidFill>
                  <a:srgbClr val="D94801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7"/>
          <p:cNvSpPr/>
          <p:nvPr/>
        </p:nvSpPr>
        <p:spPr>
          <a:xfrm>
            <a:off x="429768" y="3438144"/>
            <a:ext cx="24688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Calibri"/>
              <a:buNone/>
            </a:pPr>
            <a:r>
              <a:rPr b="1" lang="en-US" sz="100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Chutes / Jogo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" name="Google Shape;96;p7"/>
          <p:cNvSpPr/>
          <p:nvPr/>
        </p:nvSpPr>
        <p:spPr>
          <a:xfrm>
            <a:off x="429768" y="3621024"/>
            <a:ext cx="2468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94801"/>
              </a:buClr>
              <a:buSzPts val="1300"/>
              <a:buFont typeface="Calibri"/>
              <a:buNone/>
            </a:pPr>
            <a:r>
              <a:rPr b="1" lang="en-US" sz="1300">
                <a:solidFill>
                  <a:srgbClr val="D94801"/>
                </a:solidFill>
                <a:latin typeface="Calibri"/>
                <a:ea typeface="Calibri"/>
                <a:cs typeface="Calibri"/>
                <a:sym typeface="Calibri"/>
              </a:rPr>
              <a:t>16,5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" name="Google Shape;97;p7"/>
          <p:cNvSpPr/>
          <p:nvPr/>
        </p:nvSpPr>
        <p:spPr>
          <a:xfrm>
            <a:off x="3200400" y="1188720"/>
            <a:ext cx="2697480" cy="2926080"/>
          </a:xfrm>
          <a:prstGeom prst="rect">
            <a:avLst/>
          </a:prstGeom>
          <a:solidFill>
            <a:srgbClr val="EFF6FF"/>
          </a:solidFill>
          <a:ln cap="flat" cmpd="sng" w="12700">
            <a:solidFill>
              <a:srgbClr val="EFF6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" name="Google Shape;98;p7"/>
          <p:cNvSpPr/>
          <p:nvPr/>
        </p:nvSpPr>
        <p:spPr>
          <a:xfrm>
            <a:off x="3200400" y="1188720"/>
            <a:ext cx="2697480" cy="457200"/>
          </a:xfrm>
          <a:prstGeom prst="rect">
            <a:avLst/>
          </a:prstGeom>
          <a:solidFill>
            <a:srgbClr val="94A3B8"/>
          </a:solidFill>
          <a:ln cap="flat" cmpd="sng" w="12700">
            <a:solidFill>
              <a:srgbClr val="94A3B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7"/>
          <p:cNvSpPr/>
          <p:nvPr/>
        </p:nvSpPr>
        <p:spPr>
          <a:xfrm>
            <a:off x="3200400" y="1188720"/>
            <a:ext cx="26974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1" lang="en-US" sz="1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FASE 2 · Transição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" name="Google Shape;100;p7"/>
          <p:cNvSpPr/>
          <p:nvPr/>
        </p:nvSpPr>
        <p:spPr>
          <a:xfrm>
            <a:off x="3310128" y="1737360"/>
            <a:ext cx="24688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Calibri"/>
              <a:buNone/>
            </a:pPr>
            <a:r>
              <a:rPr b="1" lang="en-US" sz="100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Período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" name="Google Shape;101;p7"/>
          <p:cNvSpPr/>
          <p:nvPr/>
        </p:nvSpPr>
        <p:spPr>
          <a:xfrm>
            <a:off x="3310128" y="1920240"/>
            <a:ext cx="2468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300"/>
              <a:buFont typeface="Calibri"/>
              <a:buNone/>
            </a:pPr>
            <a:r>
              <a:rPr b="1" lang="en-US" sz="1300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25/out/2020 → 02/jan/2021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" name="Google Shape;102;p7"/>
          <p:cNvSpPr/>
          <p:nvPr/>
        </p:nvSpPr>
        <p:spPr>
          <a:xfrm>
            <a:off x="3310128" y="2304288"/>
            <a:ext cx="24688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Calibri"/>
              <a:buNone/>
            </a:pPr>
            <a:r>
              <a:rPr b="1" lang="en-US" sz="100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Chutes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7"/>
          <p:cNvSpPr/>
          <p:nvPr/>
        </p:nvSpPr>
        <p:spPr>
          <a:xfrm>
            <a:off x="3310128" y="2487168"/>
            <a:ext cx="2468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300"/>
              <a:buFont typeface="Calibri"/>
              <a:buNone/>
            </a:pPr>
            <a:r>
              <a:rPr b="1" lang="en-US" sz="1300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152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" name="Google Shape;104;p7"/>
          <p:cNvSpPr/>
          <p:nvPr/>
        </p:nvSpPr>
        <p:spPr>
          <a:xfrm>
            <a:off x="3310128" y="2871216"/>
            <a:ext cx="24688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Calibri"/>
              <a:buNone/>
            </a:pPr>
            <a:r>
              <a:rPr b="1" lang="en-US" sz="100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Jogos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" name="Google Shape;105;p7"/>
          <p:cNvSpPr/>
          <p:nvPr/>
        </p:nvSpPr>
        <p:spPr>
          <a:xfrm>
            <a:off x="3310128" y="3054096"/>
            <a:ext cx="2468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300"/>
              <a:buFont typeface="Calibri"/>
              <a:buNone/>
            </a:pPr>
            <a:r>
              <a:rPr b="1" lang="en-US" sz="1300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10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" name="Google Shape;106;p7"/>
          <p:cNvSpPr/>
          <p:nvPr/>
        </p:nvSpPr>
        <p:spPr>
          <a:xfrm>
            <a:off x="3310128" y="3438144"/>
            <a:ext cx="24688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Calibri"/>
              <a:buNone/>
            </a:pPr>
            <a:r>
              <a:rPr b="1" lang="en-US" sz="100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Chutes / Jogo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" name="Google Shape;107;p7"/>
          <p:cNvSpPr/>
          <p:nvPr/>
        </p:nvSpPr>
        <p:spPr>
          <a:xfrm>
            <a:off x="3310128" y="3621024"/>
            <a:ext cx="2468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300"/>
              <a:buFont typeface="Calibri"/>
              <a:buNone/>
            </a:pPr>
            <a:r>
              <a:rPr b="1" lang="en-US" sz="1300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15,2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" name="Google Shape;108;p7"/>
          <p:cNvSpPr/>
          <p:nvPr/>
        </p:nvSpPr>
        <p:spPr>
          <a:xfrm>
            <a:off x="6080760" y="1188720"/>
            <a:ext cx="2697480" cy="2926080"/>
          </a:xfrm>
          <a:prstGeom prst="rect">
            <a:avLst/>
          </a:prstGeom>
          <a:solidFill>
            <a:srgbClr val="EFF6FF"/>
          </a:solidFill>
          <a:ln cap="flat" cmpd="sng" w="12700">
            <a:solidFill>
              <a:srgbClr val="EFF6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" name="Google Shape;109;p7"/>
          <p:cNvSpPr/>
          <p:nvPr/>
        </p:nvSpPr>
        <p:spPr>
          <a:xfrm>
            <a:off x="6080760" y="1188720"/>
            <a:ext cx="2697480" cy="457200"/>
          </a:xfrm>
          <a:prstGeom prst="rect">
            <a:avLst/>
          </a:prstGeom>
          <a:solidFill>
            <a:srgbClr val="08519C"/>
          </a:solidFill>
          <a:ln cap="flat" cmpd="sng" w="12700">
            <a:solidFill>
              <a:srgbClr val="08519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" name="Google Shape;110;p7"/>
          <p:cNvSpPr/>
          <p:nvPr/>
        </p:nvSpPr>
        <p:spPr>
          <a:xfrm>
            <a:off x="6080760" y="1188720"/>
            <a:ext cx="26974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1" lang="en-US" sz="1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FASE 3 · Consolidação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" name="Google Shape;111;p7"/>
          <p:cNvSpPr/>
          <p:nvPr/>
        </p:nvSpPr>
        <p:spPr>
          <a:xfrm>
            <a:off x="6190488" y="1737360"/>
            <a:ext cx="24688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Calibri"/>
              <a:buNone/>
            </a:pPr>
            <a:r>
              <a:rPr b="1" lang="en-US" sz="100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Período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p7"/>
          <p:cNvSpPr/>
          <p:nvPr/>
        </p:nvSpPr>
        <p:spPr>
          <a:xfrm>
            <a:off x="6190488" y="1920240"/>
            <a:ext cx="2468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8519C"/>
              </a:buClr>
              <a:buSzPts val="1300"/>
              <a:buFont typeface="Calibri"/>
              <a:buNone/>
            </a:pPr>
            <a:r>
              <a:rPr b="1" lang="en-US" sz="1300">
                <a:solidFill>
                  <a:srgbClr val="08519C"/>
                </a:solidFill>
                <a:latin typeface="Calibri"/>
                <a:ea typeface="Calibri"/>
                <a:cs typeface="Calibri"/>
                <a:sym typeface="Calibri"/>
              </a:rPr>
              <a:t>03/jan → 23/mai 2021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7"/>
          <p:cNvSpPr/>
          <p:nvPr/>
        </p:nvSpPr>
        <p:spPr>
          <a:xfrm>
            <a:off x="6190488" y="2304288"/>
            <a:ext cx="24688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Calibri"/>
              <a:buNone/>
            </a:pPr>
            <a:r>
              <a:rPr b="1" lang="en-US" sz="100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Chutes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" name="Google Shape;114;p7"/>
          <p:cNvSpPr/>
          <p:nvPr/>
        </p:nvSpPr>
        <p:spPr>
          <a:xfrm>
            <a:off x="6190488" y="2487168"/>
            <a:ext cx="2468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8519C"/>
              </a:buClr>
              <a:buSzPts val="1300"/>
              <a:buFont typeface="Calibri"/>
              <a:buNone/>
            </a:pPr>
            <a:r>
              <a:rPr b="1" lang="en-US" sz="1300">
                <a:solidFill>
                  <a:srgbClr val="08519C"/>
                </a:solidFill>
                <a:latin typeface="Calibri"/>
                <a:ea typeface="Calibri"/>
                <a:cs typeface="Calibri"/>
                <a:sym typeface="Calibri"/>
              </a:rPr>
              <a:t>383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7"/>
          <p:cNvSpPr/>
          <p:nvPr/>
        </p:nvSpPr>
        <p:spPr>
          <a:xfrm>
            <a:off x="6190488" y="2871216"/>
            <a:ext cx="24688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Calibri"/>
              <a:buNone/>
            </a:pPr>
            <a:r>
              <a:rPr b="1" lang="en-US" sz="100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Jogos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" name="Google Shape;116;p7"/>
          <p:cNvSpPr/>
          <p:nvPr/>
        </p:nvSpPr>
        <p:spPr>
          <a:xfrm>
            <a:off x="6190488" y="3054096"/>
            <a:ext cx="2468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8519C"/>
              </a:buClr>
              <a:buSzPts val="1300"/>
              <a:buFont typeface="Calibri"/>
              <a:buNone/>
            </a:pPr>
            <a:r>
              <a:rPr b="1" lang="en-US" sz="1300">
                <a:solidFill>
                  <a:srgbClr val="08519C"/>
                </a:solidFill>
                <a:latin typeface="Calibri"/>
                <a:ea typeface="Calibri"/>
                <a:cs typeface="Calibri"/>
                <a:sym typeface="Calibri"/>
              </a:rPr>
              <a:t>24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" name="Google Shape;117;p7"/>
          <p:cNvSpPr/>
          <p:nvPr/>
        </p:nvSpPr>
        <p:spPr>
          <a:xfrm>
            <a:off x="6190488" y="3438144"/>
            <a:ext cx="24688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Calibri"/>
              <a:buNone/>
            </a:pPr>
            <a:r>
              <a:rPr b="1" lang="en-US" sz="100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Chutes / Jogo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7"/>
          <p:cNvSpPr/>
          <p:nvPr/>
        </p:nvSpPr>
        <p:spPr>
          <a:xfrm>
            <a:off x="6190488" y="3621024"/>
            <a:ext cx="2468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8519C"/>
              </a:buClr>
              <a:buSzPts val="1300"/>
              <a:buFont typeface="Calibri"/>
              <a:buNone/>
            </a:pPr>
            <a:r>
              <a:rPr b="1" lang="en-US" sz="1300">
                <a:solidFill>
                  <a:srgbClr val="08519C"/>
                </a:solidFill>
                <a:latin typeface="Calibri"/>
                <a:ea typeface="Calibri"/>
                <a:cs typeface="Calibri"/>
                <a:sym typeface="Calibri"/>
              </a:rPr>
              <a:t>16,0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p7"/>
          <p:cNvSpPr/>
          <p:nvPr/>
        </p:nvSpPr>
        <p:spPr>
          <a:xfrm>
            <a:off x="320040" y="4297680"/>
            <a:ext cx="8503920" cy="548640"/>
          </a:xfrm>
          <a:prstGeom prst="rect">
            <a:avLst/>
          </a:prstGeom>
          <a:solidFill>
            <a:srgbClr val="EBF2FA"/>
          </a:solidFill>
          <a:ln cap="flat" cmpd="sng" w="12700">
            <a:solidFill>
              <a:srgbClr val="EBF2F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7"/>
          <p:cNvSpPr/>
          <p:nvPr/>
        </p:nvSpPr>
        <p:spPr>
          <a:xfrm>
            <a:off x="320040" y="4297680"/>
            <a:ext cx="54864" cy="548640"/>
          </a:xfrm>
          <a:prstGeom prst="rect">
            <a:avLst/>
          </a:prstGeom>
          <a:solidFill>
            <a:srgbClr val="D94801"/>
          </a:solidFill>
          <a:ln cap="flat" cmpd="sng" w="12700">
            <a:solidFill>
              <a:srgbClr val="D9480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1" name="Google Shape;121;p7"/>
          <p:cNvSpPr/>
          <p:nvPr/>
        </p:nvSpPr>
        <p:spPr>
          <a:xfrm>
            <a:off x="448056" y="4297680"/>
            <a:ext cx="8348472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8519C"/>
              </a:buClr>
              <a:buSzPts val="1150"/>
              <a:buFont typeface="Calibri"/>
              <a:buNone/>
            </a:pPr>
            <a:r>
              <a:rPr lang="en-US" sz="1150">
                <a:solidFill>
                  <a:srgbClr val="08519C"/>
                </a:solidFill>
                <a:latin typeface="Calibri"/>
                <a:ea typeface="Calibri"/>
                <a:cs typeface="Calibri"/>
                <a:sym typeface="Calibri"/>
              </a:rPr>
              <a:t>O volume de chutes por jogo permaneceu praticamente estável entre as fases — o que mudou foi a composição dos executores.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8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8519C"/>
          </a:solidFill>
          <a:ln cap="flat" cmpd="sng" w="12700">
            <a:solidFill>
              <a:srgbClr val="08519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8" name="Google Shape;128;p8"/>
          <p:cNvSpPr/>
          <p:nvPr/>
        </p:nvSpPr>
        <p:spPr>
          <a:xfrm>
            <a:off x="411480" y="164592"/>
            <a:ext cx="83210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8519C"/>
              </a:buClr>
              <a:buSzPts val="2200"/>
              <a:buFont typeface="Calibri"/>
              <a:buNone/>
            </a:pPr>
            <a:r>
              <a:rPr b="1" lang="en-US" sz="2200">
                <a:solidFill>
                  <a:srgbClr val="08519C"/>
                </a:solidFill>
                <a:latin typeface="Calibri"/>
                <a:ea typeface="Calibri"/>
                <a:cs typeface="Calibri"/>
                <a:sym typeface="Calibri"/>
              </a:rPr>
              <a:t>Seção 1 — Mapa de Chutes por Fase (Time Completo)</a:t>
            </a:r>
            <a:endParaRPr sz="2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Google Shape;129;p8"/>
          <p:cNvSpPr/>
          <p:nvPr/>
        </p:nvSpPr>
        <p:spPr>
          <a:xfrm>
            <a:off x="320040" y="4251960"/>
            <a:ext cx="201168" cy="20116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" name="Google Shape;130;p8"/>
          <p:cNvSpPr/>
          <p:nvPr/>
        </p:nvSpPr>
        <p:spPr>
          <a:xfrm>
            <a:off x="594360" y="4206240"/>
            <a:ext cx="82296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Calibri"/>
              <a:buNone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Fase 1 — Com Agüero: chutes concentrados no lado direito, atacantes de ofício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" name="Google Shape;131;p8"/>
          <p:cNvSpPr/>
          <p:nvPr/>
        </p:nvSpPr>
        <p:spPr>
          <a:xfrm>
            <a:off x="320040" y="4562856"/>
            <a:ext cx="201168" cy="201168"/>
          </a:xfrm>
          <a:prstGeom prst="rect">
            <a:avLst/>
          </a:prstGeom>
          <a:solidFill>
            <a:srgbClr val="08519C"/>
          </a:solidFill>
          <a:ln cap="flat" cmpd="sng" w="12700">
            <a:solidFill>
              <a:srgbClr val="08519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8"/>
          <p:cNvSpPr/>
          <p:nvPr/>
        </p:nvSpPr>
        <p:spPr>
          <a:xfrm>
            <a:off x="594360" y="4517136"/>
            <a:ext cx="82296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Calibri"/>
              <a:buNone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Fase 3 — Falso 9: meias e pontas construtivos (Gündogan, Foden, De Bruyne) figuram entre os principais finalizadores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8"/>
          <p:cNvSpPr/>
          <p:nvPr/>
        </p:nvSpPr>
        <p:spPr>
          <a:xfrm>
            <a:off x="320040" y="4873752"/>
            <a:ext cx="201168" cy="201168"/>
          </a:xfrm>
          <a:prstGeom prst="rect">
            <a:avLst/>
          </a:prstGeom>
          <a:solidFill>
            <a:srgbClr val="F59E0B"/>
          </a:solidFill>
          <a:ln cap="flat" cmpd="sng" w="12700">
            <a:solidFill>
              <a:srgbClr val="F59E0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" name="Google Shape;134;p8"/>
          <p:cNvSpPr/>
          <p:nvPr/>
        </p:nvSpPr>
        <p:spPr>
          <a:xfrm>
            <a:off x="594360" y="4828032"/>
            <a:ext cx="82296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Calibri"/>
              <a:buNone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  Círculos Amarelos = gols marcados em cada fase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5" name="Google Shape;135;p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779600" y="819912"/>
            <a:ext cx="5584805" cy="323392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9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D94801"/>
          </a:solidFill>
          <a:ln cap="flat" cmpd="sng" w="12700">
            <a:solidFill>
              <a:srgbClr val="D9480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9"/>
          <p:cNvSpPr/>
          <p:nvPr/>
        </p:nvSpPr>
        <p:spPr>
          <a:xfrm>
            <a:off x="411480" y="164592"/>
            <a:ext cx="83210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8519C"/>
              </a:buClr>
              <a:buSzPts val="2200"/>
              <a:buFont typeface="Calibri"/>
              <a:buNone/>
            </a:pPr>
            <a:r>
              <a:rPr b="1" lang="en-US" sz="2200">
                <a:solidFill>
                  <a:srgbClr val="08519C"/>
                </a:solidFill>
                <a:latin typeface="Calibri"/>
                <a:ea typeface="Calibri"/>
                <a:cs typeface="Calibri"/>
                <a:sym typeface="Calibri"/>
              </a:rPr>
              <a:t>Seção 2 — O Paradoxo da Estabilidade Espacial</a:t>
            </a:r>
            <a:endParaRPr sz="2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" name="Google Shape;143;p9"/>
          <p:cNvSpPr/>
          <p:nvPr/>
        </p:nvSpPr>
        <p:spPr>
          <a:xfrm>
            <a:off x="411480" y="658368"/>
            <a:ext cx="83210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300"/>
              <a:buFont typeface="Calibri"/>
              <a:buNone/>
            </a:pPr>
            <a:r>
              <a:rPr i="1" lang="en-US" sz="130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Por que as zonas de finalização permaneceram estáveis mesmo sem um centroavante?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p9"/>
          <p:cNvSpPr/>
          <p:nvPr/>
        </p:nvSpPr>
        <p:spPr>
          <a:xfrm>
            <a:off x="320040" y="1097280"/>
            <a:ext cx="4069080" cy="3566160"/>
          </a:xfrm>
          <a:prstGeom prst="rect">
            <a:avLst/>
          </a:prstGeom>
          <a:solidFill>
            <a:srgbClr val="EBF2FA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9"/>
          <p:cNvSpPr/>
          <p:nvPr/>
        </p:nvSpPr>
        <p:spPr>
          <a:xfrm>
            <a:off x="320040" y="1097280"/>
            <a:ext cx="4069080" cy="384048"/>
          </a:xfrm>
          <a:prstGeom prst="rect">
            <a:avLst/>
          </a:prstGeom>
          <a:solidFill>
            <a:srgbClr val="08519C"/>
          </a:solidFill>
          <a:ln cap="flat" cmpd="sng" w="12700">
            <a:solidFill>
              <a:srgbClr val="08519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" name="Google Shape;146;p9"/>
          <p:cNvSpPr/>
          <p:nvPr/>
        </p:nvSpPr>
        <p:spPr>
          <a:xfrm>
            <a:off x="320040" y="1097280"/>
            <a:ext cx="406908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1" lang="en-US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TEORIA DO JOGO DE POSIÇÃO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" name="Google Shape;147;p9"/>
          <p:cNvSpPr/>
          <p:nvPr/>
        </p:nvSpPr>
        <p:spPr>
          <a:xfrm>
            <a:off x="457200" y="1554480"/>
            <a:ext cx="3794760" cy="30175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250"/>
              <a:buFont typeface="Calibri"/>
              <a:buNone/>
            </a:pPr>
            <a:r>
              <a:rPr lang="en-US" sz="12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No sistema de Guardiola, o campo é concebido como </a:t>
            </a:r>
            <a:r>
              <a:rPr b="1" lang="en-US" sz="1250">
                <a:solidFill>
                  <a:srgbClr val="08519C"/>
                </a:solidFill>
                <a:latin typeface="Calibri"/>
                <a:ea typeface="Calibri"/>
                <a:cs typeface="Calibri"/>
                <a:sym typeface="Calibri"/>
              </a:rPr>
              <a:t>zonas com funções pré-definidas.</a:t>
            </a:r>
            <a:r>
              <a:rPr lang="en-US" sz="12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 O objetivo coletivo é fazer a bola chegar às </a:t>
            </a:r>
            <a:r>
              <a:rPr b="1" lang="en-US" sz="1250">
                <a:solidFill>
                  <a:srgbClr val="D94801"/>
                </a:solidFill>
                <a:latin typeface="Calibri"/>
                <a:ea typeface="Calibri"/>
                <a:cs typeface="Calibri"/>
                <a:sym typeface="Calibri"/>
              </a:rPr>
              <a:t>zonas de alto xG</a:t>
            </a:r>
            <a:r>
              <a:rPr lang="en-US" sz="12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 por circulação organizada — não por genialidade individual.</a:t>
            </a:r>
            <a:br>
              <a:rPr lang="en-US" sz="12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US" sz="12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lang="en-US" sz="1250">
                <a:solidFill>
                  <a:srgbClr val="08519C"/>
                </a:solidFill>
                <a:latin typeface="Calibri"/>
                <a:ea typeface="Calibri"/>
                <a:cs typeface="Calibri"/>
                <a:sym typeface="Calibri"/>
              </a:rPr>
              <a:t>→  Resultado: </a:t>
            </a:r>
            <a:r>
              <a:rPr lang="en-US" sz="125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o sistema "demanda" a ocupação das mesmas zonas, independentemente do jogador.</a:t>
            </a:r>
            <a:endParaRPr sz="12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8" name="Google Shape;148;p9"/>
          <p:cNvSpPr/>
          <p:nvPr/>
        </p:nvSpPr>
        <p:spPr>
          <a:xfrm>
            <a:off x="4754880" y="1097280"/>
            <a:ext cx="4069080" cy="3566160"/>
          </a:xfrm>
          <a:prstGeom prst="rect">
            <a:avLst/>
          </a:prstGeom>
          <a:solidFill>
            <a:srgbClr val="FFFBEB"/>
          </a:solidFill>
          <a:ln cap="flat" cmpd="sng" w="12700">
            <a:solidFill>
              <a:srgbClr val="FDE68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9"/>
          <p:cNvSpPr/>
          <p:nvPr/>
        </p:nvSpPr>
        <p:spPr>
          <a:xfrm>
            <a:off x="4754880" y="1097280"/>
            <a:ext cx="4069080" cy="384048"/>
          </a:xfrm>
          <a:prstGeom prst="rect">
            <a:avLst/>
          </a:prstGeom>
          <a:solidFill>
            <a:srgbClr val="D94801"/>
          </a:solidFill>
          <a:ln cap="flat" cmpd="sng" w="12700">
            <a:solidFill>
              <a:srgbClr val="D9480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p9"/>
          <p:cNvSpPr/>
          <p:nvPr/>
        </p:nvSpPr>
        <p:spPr>
          <a:xfrm>
            <a:off x="4754880" y="1097280"/>
            <a:ext cx="406908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1" lang="en-US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PREDIÇÕES DA HIPÓTESE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" name="Google Shape;151;p9"/>
          <p:cNvSpPr/>
          <p:nvPr/>
        </p:nvSpPr>
        <p:spPr>
          <a:xfrm>
            <a:off x="4892040" y="1554480"/>
            <a:ext cx="3794760" cy="30175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250"/>
              <a:buFont typeface="Calibri"/>
              <a:buNone/>
            </a:pPr>
            <a:r>
              <a:rPr i="1" lang="en-US" sz="125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Se a hipótese do falso 9 for verdadeira:</a:t>
            </a:r>
            <a:br>
              <a:rPr i="1" lang="en-US" sz="125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i="1" lang="en-US" sz="125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2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A34A"/>
              </a:buClr>
              <a:buSzPts val="1250"/>
              <a:buFont typeface="Calibri"/>
              <a:buNone/>
            </a:pPr>
            <a:r>
              <a:rPr b="1" lang="en-US" sz="1250">
                <a:solidFill>
                  <a:srgbClr val="16A34A"/>
                </a:solidFill>
                <a:latin typeface="Calibri"/>
                <a:ea typeface="Calibri"/>
                <a:cs typeface="Calibri"/>
                <a:sym typeface="Calibri"/>
              </a:rPr>
              <a:t>✓  </a:t>
            </a:r>
            <a:r>
              <a:rPr lang="en-US" sz="12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Zonas de finalização estáveis entre Fase 1 e Fase 3</a:t>
            </a:r>
            <a:br>
              <a:rPr lang="en-US" sz="12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2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A34A"/>
              </a:buClr>
              <a:buSzPts val="1250"/>
              <a:buFont typeface="Calibri"/>
              <a:buNone/>
            </a:pPr>
            <a:r>
              <a:rPr b="1" lang="en-US" sz="1250">
                <a:solidFill>
                  <a:srgbClr val="16A34A"/>
                </a:solidFill>
                <a:latin typeface="Calibri"/>
                <a:ea typeface="Calibri"/>
                <a:cs typeface="Calibri"/>
                <a:sym typeface="Calibri"/>
              </a:rPr>
              <a:t>✓  </a:t>
            </a:r>
            <a:r>
              <a:rPr lang="en-US" sz="12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Maior diversidade de finalizadores na Fase 3</a:t>
            </a:r>
            <a:br>
              <a:rPr lang="en-US" sz="12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2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A34A"/>
              </a:buClr>
              <a:buSzPts val="1250"/>
              <a:buFont typeface="Calibri"/>
              <a:buNone/>
            </a:pPr>
            <a:r>
              <a:rPr b="1" lang="en-US" sz="1250">
                <a:solidFill>
                  <a:srgbClr val="16A34A"/>
                </a:solidFill>
                <a:latin typeface="Calibri"/>
                <a:ea typeface="Calibri"/>
                <a:cs typeface="Calibri"/>
                <a:sym typeface="Calibri"/>
              </a:rPr>
              <a:t>✓  </a:t>
            </a:r>
            <a:r>
              <a:rPr lang="en-US" sz="12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Meias e pontas construtivos entre os principais finalizadores</a:t>
            </a:r>
            <a:endParaRPr sz="12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1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D94801"/>
          </a:solidFill>
          <a:ln cap="flat" cmpd="sng" w="12700">
            <a:solidFill>
              <a:srgbClr val="D9480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8" name="Google Shape;158;p10"/>
          <p:cNvSpPr/>
          <p:nvPr/>
        </p:nvSpPr>
        <p:spPr>
          <a:xfrm>
            <a:off x="411480" y="164592"/>
            <a:ext cx="83210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8519C"/>
              </a:buClr>
              <a:buSzPts val="2200"/>
              <a:buFont typeface="Calibri"/>
              <a:buNone/>
            </a:pPr>
            <a:r>
              <a:rPr b="1" lang="en-US" sz="2200">
                <a:solidFill>
                  <a:srgbClr val="08519C"/>
                </a:solidFill>
                <a:latin typeface="Calibri"/>
                <a:ea typeface="Calibri"/>
                <a:cs typeface="Calibri"/>
                <a:sym typeface="Calibri"/>
              </a:rPr>
              <a:t>Seção 2 — Zonas de Finalização: Densidade por Fase (KDE)</a:t>
            </a:r>
            <a:endParaRPr sz="2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" name="Google Shape;159;p10"/>
          <p:cNvSpPr/>
          <p:nvPr/>
        </p:nvSpPr>
        <p:spPr>
          <a:xfrm>
            <a:off x="320040" y="3840480"/>
            <a:ext cx="347472" cy="347472"/>
          </a:xfrm>
          <a:prstGeom prst="ellipse">
            <a:avLst/>
          </a:prstGeom>
          <a:solidFill>
            <a:srgbClr val="08519C"/>
          </a:solidFill>
          <a:ln cap="flat" cmpd="sng" w="12700">
            <a:solidFill>
              <a:srgbClr val="08519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" name="Google Shape;160;p10"/>
          <p:cNvSpPr/>
          <p:nvPr/>
        </p:nvSpPr>
        <p:spPr>
          <a:xfrm>
            <a:off x="320040" y="3840480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1" lang="en-US" sz="1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" name="Google Shape;161;p10"/>
          <p:cNvSpPr/>
          <p:nvPr/>
        </p:nvSpPr>
        <p:spPr>
          <a:xfrm>
            <a:off x="758952" y="3822192"/>
            <a:ext cx="80467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8519C"/>
              </a:buClr>
              <a:buSzPts val="1150"/>
              <a:buFont typeface="Calibri"/>
              <a:buNone/>
            </a:pPr>
            <a:r>
              <a:rPr b="1" lang="en-US" sz="1150">
                <a:solidFill>
                  <a:srgbClr val="08519C"/>
                </a:solidFill>
                <a:latin typeface="Calibri"/>
                <a:ea typeface="Calibri"/>
                <a:cs typeface="Calibri"/>
                <a:sym typeface="Calibri"/>
              </a:rPr>
              <a:t>POSICIONAMENTO LATERAL  </a:t>
            </a:r>
            <a:r>
              <a:rPr lang="en-US" sz="11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Fase 1 (laranja): núcleo deslocado para o lado direito da área — posicionamento preferencial de Agüero. Fase 3 (azul): chutes distribuídos simetricamente por toda a largura da área.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10"/>
          <p:cNvSpPr/>
          <p:nvPr/>
        </p:nvSpPr>
        <p:spPr>
          <a:xfrm>
            <a:off x="320040" y="4434840"/>
            <a:ext cx="347472" cy="347472"/>
          </a:xfrm>
          <a:prstGeom prst="ellipse">
            <a:avLst/>
          </a:prstGeom>
          <a:solidFill>
            <a:srgbClr val="08519C"/>
          </a:solidFill>
          <a:ln cap="flat" cmpd="sng" w="12700">
            <a:solidFill>
              <a:srgbClr val="08519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10"/>
          <p:cNvSpPr/>
          <p:nvPr/>
        </p:nvSpPr>
        <p:spPr>
          <a:xfrm>
            <a:off x="320040" y="4434840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1" lang="en-US" sz="1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p10"/>
          <p:cNvSpPr/>
          <p:nvPr/>
        </p:nvSpPr>
        <p:spPr>
          <a:xfrm>
            <a:off x="758952" y="4416552"/>
            <a:ext cx="80467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8519C"/>
              </a:buClr>
              <a:buSzPts val="1150"/>
              <a:buFont typeface="Calibri"/>
              <a:buNone/>
            </a:pPr>
            <a:r>
              <a:rPr b="1" lang="en-US" sz="1150">
                <a:solidFill>
                  <a:srgbClr val="08519C"/>
                </a:solidFill>
                <a:latin typeface="Calibri"/>
                <a:ea typeface="Calibri"/>
                <a:cs typeface="Calibri"/>
                <a:sym typeface="Calibri"/>
              </a:rPr>
              <a:t>PROFUNDIDADE DE FINALIZAÇÃO  </a:t>
            </a:r>
            <a:r>
              <a:rPr lang="en-US" sz="11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Falso 9 gerou menos chutes a partir da entrada da área (meia-lua). Com múltiplos jogadores chegando de ângulos distintos, as finalizações ocorrem dentro da grande área, mas dispersas lateralmente.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65" name="Google Shape;165;p1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8625" y="702600"/>
            <a:ext cx="5326751" cy="3084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1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8519C"/>
          </a:solidFill>
          <a:ln cap="flat" cmpd="sng" w="12700">
            <a:solidFill>
              <a:srgbClr val="08519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" name="Google Shape;172;p11"/>
          <p:cNvSpPr/>
          <p:nvPr/>
        </p:nvSpPr>
        <p:spPr>
          <a:xfrm>
            <a:off x="411480" y="164592"/>
            <a:ext cx="83210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8519C"/>
              </a:buClr>
              <a:buSzPts val="2200"/>
              <a:buFont typeface="Calibri"/>
              <a:buNone/>
            </a:pPr>
            <a:r>
              <a:rPr b="1" lang="en-US" sz="2200">
                <a:solidFill>
                  <a:srgbClr val="08519C"/>
                </a:solidFill>
                <a:latin typeface="Calibri"/>
                <a:ea typeface="Calibri"/>
                <a:cs typeface="Calibri"/>
                <a:sym typeface="Calibri"/>
              </a:rPr>
              <a:t>Seção 3.1 — Redistribuição dos Finalizadores</a:t>
            </a:r>
            <a:endParaRPr sz="2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" name="Google Shape;173;p11"/>
          <p:cNvSpPr/>
          <p:nvPr/>
        </p:nvSpPr>
        <p:spPr>
          <a:xfrm>
            <a:off x="411480" y="658368"/>
            <a:ext cx="83210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300"/>
              <a:buFont typeface="Calibri"/>
              <a:buNone/>
            </a:pPr>
            <a:r>
              <a:rPr i="1" lang="en-US" sz="130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Chutes por jogo antes (Fase 1) e depois (Fase 3) da lesão do Agüero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" name="Google Shape;174;p11"/>
          <p:cNvSpPr/>
          <p:nvPr/>
        </p:nvSpPr>
        <p:spPr>
          <a:xfrm>
            <a:off x="6446520" y="1005840"/>
            <a:ext cx="2377440" cy="1005840"/>
          </a:xfrm>
          <a:prstGeom prst="rect">
            <a:avLst/>
          </a:prstGeom>
          <a:solidFill>
            <a:srgbClr val="EBF2FA"/>
          </a:solidFill>
          <a:ln cap="flat" cmpd="sng" w="12700">
            <a:solidFill>
              <a:srgbClr val="EBF2F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" name="Google Shape;175;p11"/>
          <p:cNvSpPr/>
          <p:nvPr/>
        </p:nvSpPr>
        <p:spPr>
          <a:xfrm>
            <a:off x="6446520" y="1005840"/>
            <a:ext cx="54864" cy="1005840"/>
          </a:xfrm>
          <a:prstGeom prst="rect">
            <a:avLst/>
          </a:prstGeom>
          <a:solidFill>
            <a:srgbClr val="D94801"/>
          </a:solidFill>
          <a:ln cap="flat" cmpd="sng" w="12700">
            <a:solidFill>
              <a:srgbClr val="D9480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" name="Google Shape;176;p11"/>
          <p:cNvSpPr/>
          <p:nvPr/>
        </p:nvSpPr>
        <p:spPr>
          <a:xfrm>
            <a:off x="6574536" y="1005840"/>
            <a:ext cx="2221992" cy="1005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8519C"/>
              </a:buClr>
              <a:buSzPts val="1150"/>
              <a:buFont typeface="Calibri"/>
              <a:buNone/>
            </a:pPr>
            <a:r>
              <a:rPr lang="en-US" sz="1150">
                <a:solidFill>
                  <a:srgbClr val="08519C"/>
                </a:solidFill>
                <a:latin typeface="Calibri"/>
                <a:ea typeface="Calibri"/>
                <a:cs typeface="Calibri"/>
                <a:sym typeface="Calibri"/>
              </a:rPr>
              <a:t>🔵  Gündogan tornou-se o maior artilheiro do City na 2ª metade da temporada — de meia posicional a finalizador de área.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" name="Google Shape;177;p11"/>
          <p:cNvSpPr/>
          <p:nvPr/>
        </p:nvSpPr>
        <p:spPr>
          <a:xfrm>
            <a:off x="6446520" y="2103120"/>
            <a:ext cx="2377440" cy="1005840"/>
          </a:xfrm>
          <a:prstGeom prst="rect">
            <a:avLst/>
          </a:prstGeom>
          <a:solidFill>
            <a:srgbClr val="EBF2FA"/>
          </a:solidFill>
          <a:ln cap="flat" cmpd="sng" w="12700">
            <a:solidFill>
              <a:srgbClr val="EBF2F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" name="Google Shape;178;p11"/>
          <p:cNvSpPr/>
          <p:nvPr/>
        </p:nvSpPr>
        <p:spPr>
          <a:xfrm>
            <a:off x="6446520" y="2103120"/>
            <a:ext cx="54864" cy="1005840"/>
          </a:xfrm>
          <a:prstGeom prst="rect">
            <a:avLst/>
          </a:prstGeom>
          <a:solidFill>
            <a:srgbClr val="D94801"/>
          </a:solidFill>
          <a:ln cap="flat" cmpd="sng" w="12700">
            <a:solidFill>
              <a:srgbClr val="D9480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9" name="Google Shape;179;p11"/>
          <p:cNvSpPr/>
          <p:nvPr/>
        </p:nvSpPr>
        <p:spPr>
          <a:xfrm>
            <a:off x="6574536" y="2103120"/>
            <a:ext cx="2221992" cy="1005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8519C"/>
              </a:buClr>
              <a:buSzPts val="1150"/>
              <a:buFont typeface="Calibri"/>
              <a:buNone/>
            </a:pPr>
            <a:r>
              <a:rPr lang="en-US" sz="1150">
                <a:solidFill>
                  <a:srgbClr val="08519C"/>
                </a:solidFill>
                <a:latin typeface="Calibri"/>
                <a:ea typeface="Calibri"/>
                <a:cs typeface="Calibri"/>
                <a:sym typeface="Calibri"/>
              </a:rPr>
              <a:t>🟠  Foden e Bernardo Silva aumentaram expressivamente suas participações ofensivas.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11"/>
          <p:cNvSpPr/>
          <p:nvPr/>
        </p:nvSpPr>
        <p:spPr>
          <a:xfrm>
            <a:off x="6446520" y="3200400"/>
            <a:ext cx="2377440" cy="1005840"/>
          </a:xfrm>
          <a:prstGeom prst="rect">
            <a:avLst/>
          </a:prstGeom>
          <a:solidFill>
            <a:srgbClr val="EBF2FA"/>
          </a:solidFill>
          <a:ln cap="flat" cmpd="sng" w="12700">
            <a:solidFill>
              <a:srgbClr val="EBF2F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11"/>
          <p:cNvSpPr/>
          <p:nvPr/>
        </p:nvSpPr>
        <p:spPr>
          <a:xfrm>
            <a:off x="6446520" y="3200400"/>
            <a:ext cx="54864" cy="1005840"/>
          </a:xfrm>
          <a:prstGeom prst="rect">
            <a:avLst/>
          </a:prstGeom>
          <a:solidFill>
            <a:srgbClr val="D94801"/>
          </a:solidFill>
          <a:ln cap="flat" cmpd="sng" w="12700">
            <a:solidFill>
              <a:srgbClr val="D9480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p11"/>
          <p:cNvSpPr/>
          <p:nvPr/>
        </p:nvSpPr>
        <p:spPr>
          <a:xfrm>
            <a:off x="6574536" y="3200400"/>
            <a:ext cx="2221992" cy="1005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8519C"/>
              </a:buClr>
              <a:buSzPts val="1150"/>
              <a:buFont typeface="Calibri"/>
              <a:buNone/>
            </a:pPr>
            <a:r>
              <a:rPr lang="en-US" sz="1150">
                <a:solidFill>
                  <a:srgbClr val="08519C"/>
                </a:solidFill>
                <a:latin typeface="Calibri"/>
                <a:ea typeface="Calibri"/>
                <a:cs typeface="Calibri"/>
                <a:sym typeface="Calibri"/>
              </a:rPr>
              <a:t>⚽  O sistema distribuiu a 'função do 9' coletivamente — sem dependência de um único executante.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83" name="Google Shape;183;p1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01975" y="932925"/>
            <a:ext cx="5417826" cy="39151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2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8519C"/>
          </a:solidFill>
          <a:ln cap="flat" cmpd="sng" w="12700">
            <a:solidFill>
              <a:srgbClr val="08519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12"/>
          <p:cNvSpPr/>
          <p:nvPr/>
        </p:nvSpPr>
        <p:spPr>
          <a:xfrm>
            <a:off x="411480" y="164592"/>
            <a:ext cx="83210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8519C"/>
              </a:buClr>
              <a:buSzPts val="2200"/>
              <a:buFont typeface="Calibri"/>
              <a:buNone/>
            </a:pPr>
            <a:r>
              <a:rPr b="1" lang="en-US" sz="2200">
                <a:solidFill>
                  <a:srgbClr val="08519C"/>
                </a:solidFill>
                <a:latin typeface="Calibri"/>
                <a:ea typeface="Calibri"/>
                <a:cs typeface="Calibri"/>
                <a:sym typeface="Calibri"/>
              </a:rPr>
              <a:t>Seção 3.2 — Quem Substituiu o 9? Análise por Posição</a:t>
            </a:r>
            <a:endParaRPr sz="2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" name="Google Shape;191;p12"/>
          <p:cNvSpPr/>
          <p:nvPr/>
        </p:nvSpPr>
        <p:spPr>
          <a:xfrm>
            <a:off x="320040" y="868680"/>
            <a:ext cx="8503920" cy="530352"/>
          </a:xfrm>
          <a:prstGeom prst="rect">
            <a:avLst/>
          </a:prstGeom>
          <a:solidFill>
            <a:srgbClr val="EBF2FA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2" name="Google Shape;192;p12"/>
          <p:cNvSpPr/>
          <p:nvPr/>
        </p:nvSpPr>
        <p:spPr>
          <a:xfrm>
            <a:off x="320040" y="868680"/>
            <a:ext cx="54864" cy="530352"/>
          </a:xfrm>
          <a:prstGeom prst="rect">
            <a:avLst/>
          </a:prstGeom>
          <a:solidFill>
            <a:srgbClr val="D94801"/>
          </a:solidFill>
          <a:ln cap="flat" cmpd="sng" w="12700">
            <a:solidFill>
              <a:srgbClr val="D9480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" name="Google Shape;193;p12"/>
          <p:cNvSpPr/>
          <p:nvPr/>
        </p:nvSpPr>
        <p:spPr>
          <a:xfrm>
            <a:off x="457200" y="868680"/>
            <a:ext cx="827532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8519C"/>
              </a:buClr>
              <a:buSzPts val="1150"/>
              <a:buFont typeface="Calibri"/>
              <a:buNone/>
            </a:pPr>
            <a:r>
              <a:rPr b="1" lang="en-US" sz="1150">
                <a:solidFill>
                  <a:srgbClr val="08519C"/>
                </a:solidFill>
                <a:latin typeface="Calibri"/>
                <a:ea typeface="Calibri"/>
                <a:cs typeface="Calibri"/>
                <a:sym typeface="Calibri"/>
              </a:rPr>
              <a:t>Metodologia:  </a:t>
            </a:r>
            <a:r>
              <a:rPr lang="en-US" sz="11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Cada jogador classificado em sua posição original (Defensor, Meio-Campista, Atacante). Volume normalizado por número de jogos e expresso como % do total de chutes da equipe.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" name="Google Shape;194;p12"/>
          <p:cNvSpPr/>
          <p:nvPr/>
        </p:nvSpPr>
        <p:spPr>
          <a:xfrm>
            <a:off x="320040" y="4224528"/>
            <a:ext cx="8503920" cy="594360"/>
          </a:xfrm>
          <a:prstGeom prst="rect">
            <a:avLst/>
          </a:prstGeom>
          <a:solidFill>
            <a:srgbClr val="EBF2FA"/>
          </a:solidFill>
          <a:ln cap="flat" cmpd="sng" w="12700">
            <a:solidFill>
              <a:srgbClr val="EBF2F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p12"/>
          <p:cNvSpPr/>
          <p:nvPr/>
        </p:nvSpPr>
        <p:spPr>
          <a:xfrm>
            <a:off x="320040" y="4224528"/>
            <a:ext cx="54864" cy="594360"/>
          </a:xfrm>
          <a:prstGeom prst="rect">
            <a:avLst/>
          </a:prstGeom>
          <a:solidFill>
            <a:srgbClr val="D94801"/>
          </a:solidFill>
          <a:ln cap="flat" cmpd="sng" w="12700">
            <a:solidFill>
              <a:srgbClr val="D9480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" name="Google Shape;196;p12"/>
          <p:cNvSpPr/>
          <p:nvPr/>
        </p:nvSpPr>
        <p:spPr>
          <a:xfrm>
            <a:off x="448056" y="4224528"/>
            <a:ext cx="8348472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8519C"/>
              </a:buClr>
              <a:buSzPts val="1150"/>
              <a:buFont typeface="Calibri"/>
              <a:buNone/>
            </a:pPr>
            <a:r>
              <a:rPr lang="en-US" sz="1150">
                <a:solidFill>
                  <a:srgbClr val="08519C"/>
                </a:solidFill>
                <a:latin typeface="Calibri"/>
                <a:ea typeface="Calibri"/>
                <a:cs typeface="Calibri"/>
                <a:sym typeface="Calibri"/>
              </a:rPr>
              <a:t>O aumento proporcional do meio-campo nas finalizações confirma a transferência funcional prevista pelo falso 9. A função do centroavante foi absorvida pelos meias — não pelos atacantes remanescentes.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97" name="Google Shape;197;p1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264125" y="1419650"/>
            <a:ext cx="6538568" cy="2784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13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D94801"/>
          </a:solidFill>
          <a:ln cap="flat" cmpd="sng" w="12700">
            <a:solidFill>
              <a:srgbClr val="D9480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13"/>
          <p:cNvSpPr/>
          <p:nvPr/>
        </p:nvSpPr>
        <p:spPr>
          <a:xfrm>
            <a:off x="411480" y="164592"/>
            <a:ext cx="83210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8519C"/>
              </a:buClr>
              <a:buSzPts val="2200"/>
              <a:buFont typeface="Calibri"/>
              <a:buNone/>
            </a:pPr>
            <a:r>
              <a:rPr b="1" lang="en-US" sz="2200">
                <a:solidFill>
                  <a:srgbClr val="08519C"/>
                </a:solidFill>
                <a:latin typeface="Calibri"/>
                <a:ea typeface="Calibri"/>
                <a:cs typeface="Calibri"/>
                <a:sym typeface="Calibri"/>
              </a:rPr>
              <a:t>Seção 4 — Concentração Ofensiva: Índice Herfindahl-Hirschman (HHI)</a:t>
            </a:r>
            <a:endParaRPr sz="2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13"/>
          <p:cNvSpPr/>
          <p:nvPr/>
        </p:nvSpPr>
        <p:spPr>
          <a:xfrm>
            <a:off x="411480" y="658368"/>
            <a:ext cx="83210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300"/>
              <a:buFont typeface="Calibri"/>
              <a:buNone/>
            </a:pPr>
            <a:r>
              <a:rPr i="1" lang="en-US" sz="130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Critério quantitativo para validar o coletivismo ofensivo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13"/>
          <p:cNvSpPr/>
          <p:nvPr/>
        </p:nvSpPr>
        <p:spPr>
          <a:xfrm>
            <a:off x="320040" y="1143000"/>
            <a:ext cx="3931920" cy="3520440"/>
          </a:xfrm>
          <a:prstGeom prst="rect">
            <a:avLst/>
          </a:prstGeom>
          <a:solidFill>
            <a:srgbClr val="F5F7FA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" name="Google Shape;207;p13"/>
          <p:cNvSpPr/>
          <p:nvPr/>
        </p:nvSpPr>
        <p:spPr>
          <a:xfrm>
            <a:off x="457200" y="1234440"/>
            <a:ext cx="36576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8519C"/>
              </a:buClr>
              <a:buSzPts val="1100"/>
              <a:buFont typeface="Calibri"/>
              <a:buNone/>
            </a:pPr>
            <a:r>
              <a:rPr b="1" lang="en-US" sz="1100">
                <a:solidFill>
                  <a:srgbClr val="08519C"/>
                </a:solidFill>
                <a:latin typeface="Calibri"/>
                <a:ea typeface="Calibri"/>
                <a:cs typeface="Calibri"/>
                <a:sym typeface="Calibri"/>
              </a:rPr>
              <a:t>FÓRMULA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" name="Google Shape;208;p13"/>
          <p:cNvSpPr/>
          <p:nvPr/>
        </p:nvSpPr>
        <p:spPr>
          <a:xfrm>
            <a:off x="457200" y="1600200"/>
            <a:ext cx="365760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8519C"/>
              </a:buClr>
              <a:buSzPts val="2400"/>
              <a:buFont typeface="Calibri"/>
              <a:buNone/>
            </a:pPr>
            <a:r>
              <a:rPr b="1" lang="en-US" sz="2400">
                <a:solidFill>
                  <a:srgbClr val="08519C"/>
                </a:solidFill>
                <a:latin typeface="Calibri"/>
                <a:ea typeface="Calibri"/>
                <a:cs typeface="Calibri"/>
                <a:sym typeface="Calibri"/>
              </a:rPr>
              <a:t>HHI = Σ sᵢ²</a:t>
            </a:r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9" name="Google Shape;209;p13"/>
          <p:cNvSpPr/>
          <p:nvPr/>
        </p:nvSpPr>
        <p:spPr>
          <a:xfrm>
            <a:off x="457200" y="2240280"/>
            <a:ext cx="3657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100"/>
              <a:buFont typeface="Calibri"/>
              <a:buNone/>
            </a:pPr>
            <a:r>
              <a:rPr i="1" lang="en-US" sz="110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onde sᵢ = participação relativa do jogador i no total de chutes do jogo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10" name="Google Shape;210;p13"/>
          <p:cNvCxnSpPr/>
          <p:nvPr/>
        </p:nvCxnSpPr>
        <p:spPr>
          <a:xfrm>
            <a:off x="457200" y="2788920"/>
            <a:ext cx="3657600" cy="0"/>
          </a:xfrm>
          <a:prstGeom prst="straightConnector1">
            <a:avLst/>
          </a:prstGeom>
          <a:noFill/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11" name="Google Shape;211;p13"/>
          <p:cNvSpPr/>
          <p:nvPr/>
        </p:nvSpPr>
        <p:spPr>
          <a:xfrm>
            <a:off x="457200" y="2880360"/>
            <a:ext cx="3657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8519C"/>
              </a:buClr>
              <a:buSzPts val="1100"/>
              <a:buFont typeface="Calibri"/>
              <a:buNone/>
            </a:pPr>
            <a:r>
              <a:rPr b="1" lang="en-US" sz="1100">
                <a:solidFill>
                  <a:srgbClr val="08519C"/>
                </a:solidFill>
                <a:latin typeface="Calibri"/>
                <a:ea typeface="Calibri"/>
                <a:cs typeface="Calibri"/>
                <a:sym typeface="Calibri"/>
              </a:rPr>
              <a:t>ESCALA DE INTERPRETAÇÃO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2" name="Google Shape;212;p13"/>
          <p:cNvSpPr/>
          <p:nvPr/>
        </p:nvSpPr>
        <p:spPr>
          <a:xfrm>
            <a:off x="457200" y="3246120"/>
            <a:ext cx="1280160" cy="685800"/>
          </a:xfrm>
          <a:prstGeom prst="rect">
            <a:avLst/>
          </a:prstGeom>
          <a:solidFill>
            <a:srgbClr val="D94801"/>
          </a:solidFill>
          <a:ln cap="flat" cmpd="sng" w="12700">
            <a:solidFill>
              <a:srgbClr val="D9480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13"/>
          <p:cNvSpPr/>
          <p:nvPr/>
        </p:nvSpPr>
        <p:spPr>
          <a:xfrm>
            <a:off x="457200" y="3246120"/>
            <a:ext cx="128016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1" lang="en-US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HHI → 1,0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4" name="Google Shape;214;p13"/>
          <p:cNvSpPr/>
          <p:nvPr/>
        </p:nvSpPr>
        <p:spPr>
          <a:xfrm>
            <a:off x="1828800" y="3246120"/>
            <a:ext cx="22860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100"/>
              <a:buFont typeface="Calibri"/>
              <a:buNone/>
            </a:pPr>
            <a:r>
              <a:rPr lang="en-US" sz="110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Um único jogador faz todos os chutes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100"/>
              <a:buFont typeface="Calibri"/>
              <a:buNone/>
            </a:pPr>
            <a:r>
              <a:rPr lang="en-US" sz="110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(concentração máxima)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5" name="Google Shape;215;p13"/>
          <p:cNvSpPr/>
          <p:nvPr/>
        </p:nvSpPr>
        <p:spPr>
          <a:xfrm>
            <a:off x="457200" y="4069080"/>
            <a:ext cx="1280160" cy="685800"/>
          </a:xfrm>
          <a:prstGeom prst="rect">
            <a:avLst/>
          </a:prstGeom>
          <a:solidFill>
            <a:srgbClr val="16A34A"/>
          </a:solidFill>
          <a:ln cap="flat" cmpd="sng" w="12700">
            <a:solidFill>
              <a:srgbClr val="16A3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6" name="Google Shape;216;p13"/>
          <p:cNvSpPr/>
          <p:nvPr/>
        </p:nvSpPr>
        <p:spPr>
          <a:xfrm>
            <a:off x="457200" y="4069080"/>
            <a:ext cx="128016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1" lang="en-US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HHI → 1/n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7" name="Google Shape;217;p13"/>
          <p:cNvSpPr/>
          <p:nvPr/>
        </p:nvSpPr>
        <p:spPr>
          <a:xfrm>
            <a:off x="1828800" y="4069080"/>
            <a:ext cx="22860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100"/>
              <a:buFont typeface="Calibri"/>
              <a:buNone/>
            </a:pPr>
            <a:r>
              <a:rPr lang="en-US" sz="110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Distribuição uniforme entre n jogadores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100"/>
              <a:buFont typeface="Calibri"/>
              <a:buNone/>
            </a:pPr>
            <a:r>
              <a:rPr lang="en-US" sz="110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(máximo coletivismo)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8" name="Google Shape;218;p13"/>
          <p:cNvSpPr/>
          <p:nvPr/>
        </p:nvSpPr>
        <p:spPr>
          <a:xfrm>
            <a:off x="320040" y="4773168"/>
            <a:ext cx="8503920" cy="201168"/>
          </a:xfrm>
          <a:prstGeom prst="rect">
            <a:avLst/>
          </a:prstGeom>
          <a:solidFill>
            <a:srgbClr val="EBF2FA"/>
          </a:solidFill>
          <a:ln cap="flat" cmpd="sng" w="12700">
            <a:solidFill>
              <a:srgbClr val="EBF2F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9" name="Google Shape;219;p13"/>
          <p:cNvSpPr/>
          <p:nvPr/>
        </p:nvSpPr>
        <p:spPr>
          <a:xfrm>
            <a:off x="320040" y="4773168"/>
            <a:ext cx="54864" cy="201168"/>
          </a:xfrm>
          <a:prstGeom prst="rect">
            <a:avLst/>
          </a:prstGeom>
          <a:solidFill>
            <a:srgbClr val="D94801"/>
          </a:solidFill>
          <a:ln cap="flat" cmpd="sng" w="12700">
            <a:solidFill>
              <a:srgbClr val="D9480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0" name="Google Shape;220;p13"/>
          <p:cNvSpPr/>
          <p:nvPr/>
        </p:nvSpPr>
        <p:spPr>
          <a:xfrm>
            <a:off x="448056" y="4773168"/>
            <a:ext cx="8348472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8519C"/>
              </a:buClr>
              <a:buSzPts val="1150"/>
              <a:buFont typeface="Calibri"/>
              <a:buNone/>
            </a:pPr>
            <a:r>
              <a:rPr lang="en-US" sz="1150">
                <a:solidFill>
                  <a:srgbClr val="08519C"/>
                </a:solidFill>
                <a:latin typeface="Calibri"/>
                <a:ea typeface="Calibri"/>
                <a:cs typeface="Calibri"/>
                <a:sym typeface="Calibri"/>
              </a:rPr>
              <a:t>Hipótese: Se o falso 9 redistribuiu as finalizações, a Fase 3 deve apresentar HHI médio menor que a Fase 1.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21" name="Google Shape;221;p13"/>
          <p:cNvPicPr preferRelativeResize="0"/>
          <p:nvPr/>
        </p:nvPicPr>
        <p:blipFill rotWithShape="1">
          <a:blip r:embed="rId3">
            <a:alphaModFix/>
          </a:blip>
          <a:srcRect b="12894" l="0" r="50417" t="13760"/>
          <a:stretch/>
        </p:blipFill>
        <p:spPr>
          <a:xfrm>
            <a:off x="4901575" y="695327"/>
            <a:ext cx="3556626" cy="1869085"/>
          </a:xfrm>
          <a:prstGeom prst="rect">
            <a:avLst/>
          </a:prstGeom>
          <a:noFill/>
          <a:ln>
            <a:noFill/>
          </a:ln>
        </p:spPr>
      </p:pic>
      <p:pic>
        <p:nvPicPr>
          <p:cNvPr id="222" name="Google Shape;222;p13"/>
          <p:cNvPicPr preferRelativeResize="0"/>
          <p:nvPr/>
        </p:nvPicPr>
        <p:blipFill rotWithShape="1">
          <a:blip r:embed="rId3">
            <a:alphaModFix/>
          </a:blip>
          <a:srcRect b="7404" l="50000" r="729" t="8264"/>
          <a:stretch/>
        </p:blipFill>
        <p:spPr>
          <a:xfrm>
            <a:off x="4901575" y="2592238"/>
            <a:ext cx="3556626" cy="21626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27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p14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8519C"/>
          </a:solidFill>
          <a:ln cap="flat" cmpd="sng" w="12700">
            <a:solidFill>
              <a:srgbClr val="08519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" name="Google Shape;229;p14"/>
          <p:cNvSpPr/>
          <p:nvPr/>
        </p:nvSpPr>
        <p:spPr>
          <a:xfrm>
            <a:off x="411480" y="164592"/>
            <a:ext cx="83210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8519C"/>
              </a:buClr>
              <a:buSzPts val="2200"/>
              <a:buFont typeface="Calibri"/>
              <a:buNone/>
            </a:pPr>
            <a:r>
              <a:rPr b="1" lang="en-US" sz="2200">
                <a:solidFill>
                  <a:srgbClr val="08519C"/>
                </a:solidFill>
                <a:latin typeface="Calibri"/>
                <a:ea typeface="Calibri"/>
                <a:cs typeface="Calibri"/>
                <a:sym typeface="Calibri"/>
              </a:rPr>
              <a:t>Seção 5 — Estudo de Caso: İlkay Gündogan</a:t>
            </a:r>
            <a:endParaRPr sz="2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0" name="Google Shape;230;p14"/>
          <p:cNvSpPr/>
          <p:nvPr/>
        </p:nvSpPr>
        <p:spPr>
          <a:xfrm>
            <a:off x="411480" y="658368"/>
            <a:ext cx="83210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300"/>
              <a:buFont typeface="Calibri"/>
              <a:buNone/>
            </a:pPr>
            <a:r>
              <a:rPr i="1" lang="en-US" sz="130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Como um meia posicional se tornou artilheiro do título?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1" name="Google Shape;231;p14"/>
          <p:cNvSpPr/>
          <p:nvPr/>
        </p:nvSpPr>
        <p:spPr>
          <a:xfrm>
            <a:off x="320040" y="1024128"/>
            <a:ext cx="8503920" cy="685800"/>
          </a:xfrm>
          <a:prstGeom prst="rect">
            <a:avLst/>
          </a:prstGeom>
          <a:solidFill>
            <a:srgbClr val="05346A"/>
          </a:solidFill>
          <a:ln cap="flat" cmpd="sng" w="12700">
            <a:solidFill>
              <a:srgbClr val="05346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2" name="Google Shape;232;p14"/>
          <p:cNvSpPr/>
          <p:nvPr/>
        </p:nvSpPr>
        <p:spPr>
          <a:xfrm>
            <a:off x="502920" y="1024128"/>
            <a:ext cx="832104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i="1" lang="en-US" sz="13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"Gündogan não se tornou um centroavante. Ele se tornou o ponto de chegada de um sistema que não precisava de centroavante."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3" name="Google Shape;233;p14"/>
          <p:cNvSpPr/>
          <p:nvPr/>
        </p:nvSpPr>
        <p:spPr>
          <a:xfrm>
            <a:off x="320040" y="1874520"/>
            <a:ext cx="4114800" cy="1371600"/>
          </a:xfrm>
          <a:prstGeom prst="rect">
            <a:avLst/>
          </a:prstGeom>
          <a:solidFill>
            <a:srgbClr val="F5F7FA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4" name="Google Shape;234;p14"/>
          <p:cNvSpPr/>
          <p:nvPr/>
        </p:nvSpPr>
        <p:spPr>
          <a:xfrm>
            <a:off x="320040" y="1874520"/>
            <a:ext cx="4114800" cy="54864"/>
          </a:xfrm>
          <a:prstGeom prst="rect">
            <a:avLst/>
          </a:prstGeom>
          <a:solidFill>
            <a:srgbClr val="D94801"/>
          </a:solidFill>
          <a:ln cap="flat" cmpd="sng" w="12700">
            <a:solidFill>
              <a:srgbClr val="D9480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" name="Google Shape;235;p14"/>
          <p:cNvSpPr/>
          <p:nvPr/>
        </p:nvSpPr>
        <p:spPr>
          <a:xfrm>
            <a:off x="429768" y="1965960"/>
            <a:ext cx="3886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8519C"/>
              </a:buClr>
              <a:buSzPts val="1200"/>
              <a:buFont typeface="Calibri"/>
              <a:buNone/>
            </a:pPr>
            <a:r>
              <a:rPr b="1" lang="en-US" sz="1200">
                <a:solidFill>
                  <a:srgbClr val="08519C"/>
                </a:solidFill>
                <a:latin typeface="Calibri"/>
                <a:ea typeface="Calibri"/>
                <a:cs typeface="Calibri"/>
                <a:sym typeface="Calibri"/>
              </a:rPr>
              <a:t>Chutes por Mês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6" name="Google Shape;236;p14"/>
          <p:cNvSpPr/>
          <p:nvPr/>
        </p:nvSpPr>
        <p:spPr>
          <a:xfrm>
            <a:off x="429768" y="2240280"/>
            <a:ext cx="38862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100"/>
              <a:buFont typeface="Calibri"/>
              <a:buNone/>
            </a:pPr>
            <a:r>
              <a:rPr lang="en-US" sz="110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Progressão crescente de set/2020 a mai/2021 — pico acentuado após jan/2021 com a consolidação do falso 9.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7" name="Google Shape;237;p14"/>
          <p:cNvSpPr/>
          <p:nvPr/>
        </p:nvSpPr>
        <p:spPr>
          <a:xfrm>
            <a:off x="4663440" y="1874520"/>
            <a:ext cx="4114800" cy="1371600"/>
          </a:xfrm>
          <a:prstGeom prst="rect">
            <a:avLst/>
          </a:prstGeom>
          <a:solidFill>
            <a:srgbClr val="F5F7FA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8" name="Google Shape;238;p14"/>
          <p:cNvSpPr/>
          <p:nvPr/>
        </p:nvSpPr>
        <p:spPr>
          <a:xfrm>
            <a:off x="4663440" y="1874520"/>
            <a:ext cx="4114800" cy="54864"/>
          </a:xfrm>
          <a:prstGeom prst="rect">
            <a:avLst/>
          </a:prstGeom>
          <a:solidFill>
            <a:srgbClr val="D94801"/>
          </a:solidFill>
          <a:ln cap="flat" cmpd="sng" w="12700">
            <a:solidFill>
              <a:srgbClr val="D9480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9" name="Google Shape;239;p14"/>
          <p:cNvSpPr/>
          <p:nvPr/>
        </p:nvSpPr>
        <p:spPr>
          <a:xfrm>
            <a:off x="4773168" y="1965960"/>
            <a:ext cx="3886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8519C"/>
              </a:buClr>
              <a:buSzPts val="1200"/>
              <a:buFont typeface="Calibri"/>
              <a:buNone/>
            </a:pPr>
            <a:r>
              <a:rPr b="1" lang="en-US" sz="1200">
                <a:solidFill>
                  <a:srgbClr val="08519C"/>
                </a:solidFill>
                <a:latin typeface="Calibri"/>
                <a:ea typeface="Calibri"/>
                <a:cs typeface="Calibri"/>
                <a:sym typeface="Calibri"/>
              </a:rPr>
              <a:t>xG vs. Gols por Mês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0" name="Google Shape;240;p14"/>
          <p:cNvSpPr/>
          <p:nvPr/>
        </p:nvSpPr>
        <p:spPr>
          <a:xfrm>
            <a:off x="4773168" y="2240280"/>
            <a:ext cx="38862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100"/>
              <a:buFont typeface="Calibri"/>
              <a:buNone/>
            </a:pPr>
            <a:r>
              <a:rPr lang="en-US" sz="110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Comparação entre qualidade esperada (xG) e execução real — revela se foi overperformance pontual ou padrão sustentado.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1" name="Google Shape;241;p14"/>
          <p:cNvSpPr/>
          <p:nvPr/>
        </p:nvSpPr>
        <p:spPr>
          <a:xfrm>
            <a:off x="320040" y="3319272"/>
            <a:ext cx="4114800" cy="1371600"/>
          </a:xfrm>
          <a:prstGeom prst="rect">
            <a:avLst/>
          </a:prstGeom>
          <a:solidFill>
            <a:srgbClr val="F5F7FA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2" name="Google Shape;242;p14"/>
          <p:cNvSpPr/>
          <p:nvPr/>
        </p:nvSpPr>
        <p:spPr>
          <a:xfrm>
            <a:off x="320040" y="3319272"/>
            <a:ext cx="4114800" cy="54864"/>
          </a:xfrm>
          <a:prstGeom prst="rect">
            <a:avLst/>
          </a:prstGeom>
          <a:solidFill>
            <a:srgbClr val="08519C"/>
          </a:solidFill>
          <a:ln cap="flat" cmpd="sng" w="12700">
            <a:solidFill>
              <a:srgbClr val="D9480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3" name="Google Shape;243;p14"/>
          <p:cNvSpPr/>
          <p:nvPr/>
        </p:nvSpPr>
        <p:spPr>
          <a:xfrm>
            <a:off x="429768" y="3410712"/>
            <a:ext cx="3886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8519C"/>
              </a:buClr>
              <a:buSzPts val="1200"/>
              <a:buFont typeface="Calibri"/>
              <a:buNone/>
            </a:pPr>
            <a:r>
              <a:rPr b="1" lang="en-US" sz="1200">
                <a:solidFill>
                  <a:srgbClr val="08519C"/>
                </a:solidFill>
                <a:latin typeface="Calibri"/>
                <a:ea typeface="Calibri"/>
                <a:cs typeface="Calibri"/>
                <a:sym typeface="Calibri"/>
              </a:rPr>
              <a:t>Localização dos Chutes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4" name="Google Shape;244;p14"/>
          <p:cNvSpPr/>
          <p:nvPr/>
        </p:nvSpPr>
        <p:spPr>
          <a:xfrm>
            <a:off x="429768" y="3685032"/>
            <a:ext cx="38862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100"/>
              <a:buFont typeface="Calibri"/>
              <a:buNone/>
            </a:pPr>
            <a:r>
              <a:rPr lang="en-US" sz="110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Fase 3: chutes mais frequentemente dentro da área → mesmas zonas de alto xG ocupadas pelo centroavante tradicional.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5" name="Google Shape;245;p14"/>
          <p:cNvSpPr/>
          <p:nvPr/>
        </p:nvSpPr>
        <p:spPr>
          <a:xfrm>
            <a:off x="4663440" y="3319272"/>
            <a:ext cx="4114800" cy="1371600"/>
          </a:xfrm>
          <a:prstGeom prst="rect">
            <a:avLst/>
          </a:prstGeom>
          <a:solidFill>
            <a:srgbClr val="F5F7FA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6" name="Google Shape;246;p14"/>
          <p:cNvSpPr/>
          <p:nvPr/>
        </p:nvSpPr>
        <p:spPr>
          <a:xfrm>
            <a:off x="4663440" y="3319272"/>
            <a:ext cx="4114800" cy="54864"/>
          </a:xfrm>
          <a:prstGeom prst="rect">
            <a:avLst/>
          </a:prstGeom>
          <a:solidFill>
            <a:srgbClr val="08519C"/>
          </a:solidFill>
          <a:ln cap="flat" cmpd="sng" w="12700">
            <a:solidFill>
              <a:srgbClr val="D9480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7" name="Google Shape;247;p14"/>
          <p:cNvSpPr/>
          <p:nvPr/>
        </p:nvSpPr>
        <p:spPr>
          <a:xfrm>
            <a:off x="4773168" y="3410712"/>
            <a:ext cx="3886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8519C"/>
              </a:buClr>
              <a:buSzPts val="1200"/>
              <a:buFont typeface="Calibri"/>
              <a:buNone/>
            </a:pPr>
            <a:r>
              <a:rPr b="1" lang="en-US" sz="1200">
                <a:solidFill>
                  <a:srgbClr val="08519C"/>
                </a:solidFill>
                <a:latin typeface="Calibri"/>
                <a:ea typeface="Calibri"/>
                <a:cs typeface="Calibri"/>
                <a:sym typeface="Calibri"/>
              </a:rPr>
              <a:t>xG Acumulado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8" name="Google Shape;248;p14"/>
          <p:cNvSpPr/>
          <p:nvPr/>
        </p:nvSpPr>
        <p:spPr>
          <a:xfrm>
            <a:off x="4773168" y="3685032"/>
            <a:ext cx="38862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100"/>
              <a:buFont typeface="Calibri"/>
              <a:buNone/>
            </a:pPr>
            <a:r>
              <a:rPr lang="en-US" sz="110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Curva xG acumulado vs. gols marcados — área entre as curvas indica over/underperformance ao longo da temporada.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9" name="Google Shape;249;p14"/>
          <p:cNvSpPr/>
          <p:nvPr/>
        </p:nvSpPr>
        <p:spPr>
          <a:xfrm>
            <a:off x="320040" y="4773168"/>
            <a:ext cx="8503920" cy="228600"/>
          </a:xfrm>
          <a:prstGeom prst="rect">
            <a:avLst/>
          </a:prstGeom>
          <a:solidFill>
            <a:srgbClr val="EBF2FA"/>
          </a:solidFill>
          <a:ln cap="flat" cmpd="sng" w="12700">
            <a:solidFill>
              <a:srgbClr val="EBF2F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0" name="Google Shape;250;p14"/>
          <p:cNvSpPr/>
          <p:nvPr/>
        </p:nvSpPr>
        <p:spPr>
          <a:xfrm>
            <a:off x="320040" y="4773168"/>
            <a:ext cx="54864" cy="228600"/>
          </a:xfrm>
          <a:prstGeom prst="rect">
            <a:avLst/>
          </a:prstGeom>
          <a:solidFill>
            <a:srgbClr val="D94801"/>
          </a:solidFill>
          <a:ln cap="flat" cmpd="sng" w="12700">
            <a:solidFill>
              <a:srgbClr val="D9480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1" name="Google Shape;251;p14"/>
          <p:cNvSpPr/>
          <p:nvPr/>
        </p:nvSpPr>
        <p:spPr>
          <a:xfrm>
            <a:off x="448056" y="4773168"/>
            <a:ext cx="8348472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8519C"/>
              </a:buClr>
              <a:buSzPts val="1150"/>
              <a:buFont typeface="Calibri"/>
              <a:buNone/>
            </a:pPr>
            <a:r>
              <a:rPr lang="en-US" sz="1150">
                <a:solidFill>
                  <a:srgbClr val="08519C"/>
                </a:solidFill>
                <a:latin typeface="Calibri"/>
                <a:ea typeface="Calibri"/>
                <a:cs typeface="Calibri"/>
                <a:sym typeface="Calibri"/>
              </a:rPr>
              <a:t>Pergunta investigativa: A explosão de Gündogan foi overperformance isolada ou evidência de uma mudança real no seu papel tático dentro do sistema?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15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8519C"/>
          </a:solidFill>
          <a:ln cap="flat" cmpd="sng" w="12700">
            <a:solidFill>
              <a:srgbClr val="08519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8" name="Google Shape;258;p15"/>
          <p:cNvSpPr/>
          <p:nvPr/>
        </p:nvSpPr>
        <p:spPr>
          <a:xfrm>
            <a:off x="411480" y="164592"/>
            <a:ext cx="83210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8519C"/>
              </a:buClr>
              <a:buSzPts val="2200"/>
              <a:buFont typeface="Calibri"/>
              <a:buNone/>
            </a:pPr>
            <a:r>
              <a:rPr b="1" lang="en-US" sz="2200">
                <a:solidFill>
                  <a:srgbClr val="08519C"/>
                </a:solidFill>
                <a:latin typeface="Calibri"/>
                <a:ea typeface="Calibri"/>
                <a:cs typeface="Calibri"/>
                <a:sym typeface="Calibri"/>
              </a:rPr>
              <a:t>Seção 5 — Estudo de Caso: İlkay Gündogan</a:t>
            </a:r>
            <a:endParaRPr sz="2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9" name="Google Shape;259;p15"/>
          <p:cNvSpPr/>
          <p:nvPr/>
        </p:nvSpPr>
        <p:spPr>
          <a:xfrm>
            <a:off x="411480" y="658368"/>
            <a:ext cx="83210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300"/>
              <a:buFont typeface="Calibri"/>
              <a:buNone/>
            </a:pPr>
            <a:r>
              <a:rPr i="1" lang="en-US" sz="130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Como um meia posicional se tornou artilheiro do título?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60" name="Google Shape;260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698513" y="978400"/>
            <a:ext cx="5746980" cy="40797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65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Google Shape;266;p16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D94801"/>
          </a:solidFill>
          <a:ln cap="flat" cmpd="sng" w="12700">
            <a:solidFill>
              <a:srgbClr val="D9480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7" name="Google Shape;267;p16"/>
          <p:cNvSpPr/>
          <p:nvPr/>
        </p:nvSpPr>
        <p:spPr>
          <a:xfrm>
            <a:off x="411480" y="164592"/>
            <a:ext cx="83210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8519C"/>
              </a:buClr>
              <a:buSzPts val="2200"/>
              <a:buFont typeface="Calibri"/>
              <a:buNone/>
            </a:pPr>
            <a:r>
              <a:rPr b="1" lang="en-US" sz="2200">
                <a:solidFill>
                  <a:srgbClr val="08519C"/>
                </a:solidFill>
                <a:latin typeface="Calibri"/>
                <a:ea typeface="Calibri"/>
                <a:cs typeface="Calibri"/>
                <a:sym typeface="Calibri"/>
              </a:rPr>
              <a:t>Seção 6 — Qualidade vs. Quantidade</a:t>
            </a:r>
            <a:endParaRPr sz="2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8" name="Google Shape;268;p16"/>
          <p:cNvSpPr/>
          <p:nvPr/>
        </p:nvSpPr>
        <p:spPr>
          <a:xfrm>
            <a:off x="411480" y="658368"/>
            <a:ext cx="83210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300"/>
              <a:buFont typeface="Calibri"/>
              <a:buNone/>
            </a:pPr>
            <a:r>
              <a:rPr i="1" lang="en-US" sz="130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O sistema criou chances melhores, ou apenas redistribuiu executores?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269" name="Google Shape;269;p16"/>
          <p:cNvGraphicFramePr/>
          <p:nvPr/>
        </p:nvGraphicFramePr>
        <p:xfrm>
          <a:off x="320015" y="97839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{ED6BE9DC-E15B-4B2B-A48B-3F1839405588}</a:tableStyleId>
              </a:tblPr>
              <a:tblGrid>
                <a:gridCol w="2560325"/>
                <a:gridCol w="1645925"/>
                <a:gridCol w="1645925"/>
                <a:gridCol w="2651750"/>
              </a:tblGrid>
              <a:tr h="3657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200"/>
                        <a:buFont typeface="Calibri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</a:rPr>
                        <a:t>Métrica</a:t>
                      </a:r>
                      <a:endParaRPr sz="12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200"/>
                        <a:buFont typeface="Calibri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</a:rPr>
                        <a:t>Fase 1 — Com Agüero</a:t>
                      </a:r>
                      <a:endParaRPr sz="12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200"/>
                        <a:buFont typeface="Calibri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</a:rPr>
                        <a:t>Fase 3 — Falso 9</a:t>
                      </a:r>
                      <a:endParaRPr sz="12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200"/>
                        <a:buFont typeface="Calibri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</a:rPr>
                        <a:t>Interpretação</a:t>
                      </a:r>
                      <a:endParaRPr sz="12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5F7FA"/>
                    </a:solidFill>
                  </a:tcPr>
                </a:tc>
              </a:tr>
              <a:tr h="3657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cap="none" strike="noStrike">
                          <a:solidFill>
                            <a:srgbClr val="000000"/>
                          </a:solidFill>
                        </a:rPr>
                        <a:t>xG médio por chute</a:t>
                      </a:r>
                      <a:endParaRPr sz="12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/>
                        <a:t>0.133</a:t>
                      </a:r>
                      <a:endParaRPr sz="12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/>
                        <a:t>0.131</a:t>
                      </a:r>
                      <a:endParaRPr sz="12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cap="none" strike="noStrike">
                          <a:solidFill>
                            <a:srgbClr val="000000"/>
                          </a:solidFill>
                        </a:rPr>
                        <a:t>Qualidade média das chances criadas</a:t>
                      </a:r>
                      <a:endParaRPr sz="12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5F7FA"/>
                    </a:solidFill>
                  </a:tcPr>
                </a:tc>
              </a:tr>
              <a:tr h="3657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cap="none" strike="noStrike">
                          <a:solidFill>
                            <a:srgbClr val="000000"/>
                          </a:solidFill>
                        </a:rPr>
                        <a:t>Taxa de conversão (%)</a:t>
                      </a:r>
                      <a:endParaRPr sz="12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/>
                        <a:t>13.019</a:t>
                      </a:r>
                      <a:endParaRPr sz="12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/>
                        <a:t>13.590</a:t>
                      </a:r>
                      <a:endParaRPr sz="12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cap="none" strike="noStrike">
                          <a:solidFill>
                            <a:srgbClr val="000000"/>
                          </a:solidFill>
                        </a:rPr>
                        <a:t>Eficiência de execução</a:t>
                      </a:r>
                      <a:endParaRPr sz="12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5F7FA"/>
                    </a:solidFill>
                  </a:tcPr>
                </a:tc>
              </a:tr>
              <a:tr h="3657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cap="none" strike="noStrike">
                          <a:solidFill>
                            <a:srgbClr val="000000"/>
                          </a:solidFill>
                        </a:rPr>
                        <a:t>% chutes dentro da área</a:t>
                      </a:r>
                      <a:endParaRPr sz="12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/>
                        <a:t>60.655</a:t>
                      </a:r>
                      <a:endParaRPr sz="12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/>
                        <a:t>59.744</a:t>
                      </a:r>
                      <a:endParaRPr sz="12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cap="none" strike="noStrike">
                          <a:solidFill>
                            <a:srgbClr val="000000"/>
                          </a:solidFill>
                        </a:rPr>
                        <a:t>Posicionamento espacial de qualidade</a:t>
                      </a:r>
                      <a:endParaRPr sz="12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5F7FA"/>
                    </a:solidFill>
                  </a:tcPr>
                </a:tc>
              </a:tr>
              <a:tr h="3657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cap="none" strike="noStrike">
                          <a:solidFill>
                            <a:srgbClr val="000000"/>
                          </a:solidFill>
                        </a:rPr>
                        <a:t>Gols / xG ratio</a:t>
                      </a:r>
                      <a:endParaRPr sz="12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/>
                        <a:t>0.977</a:t>
                      </a:r>
                      <a:endParaRPr sz="12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/>
                        <a:t>1.037</a:t>
                      </a:r>
                      <a:endParaRPr sz="12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cap="none" strike="noStrike">
                          <a:solidFill>
                            <a:srgbClr val="000000"/>
                          </a:solidFill>
                        </a:rPr>
                        <a:t>&gt; 1 = overperformance de execução</a:t>
                      </a:r>
                      <a:endParaRPr sz="12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270" name="Google Shape;270;p16"/>
          <p:cNvSpPr/>
          <p:nvPr/>
        </p:nvSpPr>
        <p:spPr>
          <a:xfrm>
            <a:off x="320015" y="978390"/>
            <a:ext cx="8503800" cy="365700"/>
          </a:xfrm>
          <a:prstGeom prst="rect">
            <a:avLst/>
          </a:prstGeom>
          <a:solidFill>
            <a:srgbClr val="08519C"/>
          </a:solidFill>
          <a:ln cap="flat" cmpd="sng" w="12700">
            <a:solidFill>
              <a:srgbClr val="08519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1" name="Google Shape;271;p16"/>
          <p:cNvSpPr/>
          <p:nvPr/>
        </p:nvSpPr>
        <p:spPr>
          <a:xfrm>
            <a:off x="411455" y="978390"/>
            <a:ext cx="24690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1" lang="en-US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Métrica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2" name="Google Shape;272;p16"/>
          <p:cNvSpPr/>
          <p:nvPr/>
        </p:nvSpPr>
        <p:spPr>
          <a:xfrm>
            <a:off x="2971775" y="978390"/>
            <a:ext cx="16458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1" lang="en-US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Fase 1 — Com Agüero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3" name="Google Shape;273;p16"/>
          <p:cNvSpPr/>
          <p:nvPr/>
        </p:nvSpPr>
        <p:spPr>
          <a:xfrm>
            <a:off x="4709135" y="978390"/>
            <a:ext cx="16458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1" lang="en-US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Fase 3 — Falso 9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4" name="Google Shape;274;p16"/>
          <p:cNvSpPr/>
          <p:nvPr/>
        </p:nvSpPr>
        <p:spPr>
          <a:xfrm>
            <a:off x="6446495" y="978390"/>
            <a:ext cx="23775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1" lang="en-US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Interpretação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5" name="Google Shape;275;p16"/>
          <p:cNvSpPr/>
          <p:nvPr/>
        </p:nvSpPr>
        <p:spPr>
          <a:xfrm flipH="1" rot="10800000">
            <a:off x="448050" y="5057958"/>
            <a:ext cx="8418600" cy="1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8519C"/>
              </a:buClr>
              <a:buSzPts val="1150"/>
              <a:buFont typeface="Calibri"/>
              <a:buNone/>
            </a:pPr>
            <a:r>
              <a:t/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76" name="Google Shape;276;p16"/>
          <p:cNvPicPr preferRelativeResize="0"/>
          <p:nvPr/>
        </p:nvPicPr>
        <p:blipFill rotWithShape="1">
          <a:blip r:embed="rId3">
            <a:alphaModFix/>
          </a:blip>
          <a:srcRect b="7715" l="0" r="0" t="0"/>
          <a:stretch/>
        </p:blipFill>
        <p:spPr>
          <a:xfrm>
            <a:off x="1404700" y="3108950"/>
            <a:ext cx="6371091" cy="20345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5346A"/>
        </a:solidFill>
      </p:bgPr>
    </p:bg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17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D94801"/>
          </a:solidFill>
          <a:ln cap="flat" cmpd="sng" w="12700">
            <a:solidFill>
              <a:srgbClr val="D9480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3" name="Google Shape;283;p17"/>
          <p:cNvSpPr/>
          <p:nvPr/>
        </p:nvSpPr>
        <p:spPr>
          <a:xfrm>
            <a:off x="411480" y="164592"/>
            <a:ext cx="83210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Calibri"/>
              <a:buNone/>
            </a:pPr>
            <a:r>
              <a:rPr b="1" lang="en-US" sz="2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Conclusão — A Zona como Centroavante</a:t>
            </a:r>
            <a:endParaRPr sz="2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4" name="Google Shape;284;p17"/>
          <p:cNvSpPr/>
          <p:nvPr/>
        </p:nvSpPr>
        <p:spPr>
          <a:xfrm>
            <a:off x="411480" y="658368"/>
            <a:ext cx="83210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300"/>
              <a:buFont typeface="Calibri"/>
              <a:buNone/>
            </a:pPr>
            <a:r>
              <a:rPr i="1" lang="en-US" sz="130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Evidências consolidadas da investigação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5" name="Google Shape;285;p17"/>
          <p:cNvSpPr/>
          <p:nvPr/>
        </p:nvSpPr>
        <p:spPr>
          <a:xfrm>
            <a:off x="320040" y="1005840"/>
            <a:ext cx="8503920" cy="576072"/>
          </a:xfrm>
          <a:prstGeom prst="rect">
            <a:avLst/>
          </a:prstGeom>
          <a:solidFill>
            <a:srgbClr val="0A3D6B"/>
          </a:solidFill>
          <a:ln cap="flat" cmpd="sng" w="12700">
            <a:solidFill>
              <a:srgbClr val="0A3D6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6" name="Google Shape;286;p17"/>
          <p:cNvSpPr/>
          <p:nvPr/>
        </p:nvSpPr>
        <p:spPr>
          <a:xfrm>
            <a:off x="411480" y="1005840"/>
            <a:ext cx="1417320" cy="5760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94801"/>
              </a:buClr>
              <a:buSzPts val="1100"/>
              <a:buFont typeface="Calibri"/>
              <a:buNone/>
            </a:pPr>
            <a:r>
              <a:rPr b="1" lang="en-US" sz="1100">
                <a:solidFill>
                  <a:srgbClr val="D94801"/>
                </a:solidFill>
                <a:latin typeface="Calibri"/>
                <a:ea typeface="Calibri"/>
                <a:cs typeface="Calibri"/>
                <a:sym typeface="Calibri"/>
              </a:rPr>
              <a:t>Espacial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7" name="Google Shape;287;p17"/>
          <p:cNvSpPr/>
          <p:nvPr/>
        </p:nvSpPr>
        <p:spPr>
          <a:xfrm>
            <a:off x="1920240" y="1005840"/>
            <a:ext cx="2377440" cy="5760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ADCFC"/>
              </a:buClr>
              <a:buSzPts val="1100"/>
              <a:buFont typeface="Calibri"/>
              <a:buNone/>
            </a:pPr>
            <a:r>
              <a:rPr i="1" lang="en-US" sz="1100">
                <a:solidFill>
                  <a:srgbClr val="CADCFC"/>
                </a:solidFill>
                <a:latin typeface="Calibri"/>
                <a:ea typeface="Calibri"/>
                <a:cs typeface="Calibri"/>
                <a:sym typeface="Calibri"/>
              </a:rPr>
              <a:t>KDE de zonas (Seções 1–2)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8" name="Google Shape;288;p17"/>
          <p:cNvSpPr/>
          <p:nvPr/>
        </p:nvSpPr>
        <p:spPr>
          <a:xfrm>
            <a:off x="4389120" y="1005840"/>
            <a:ext cx="4343400" cy="5760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lang="en-US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Zonas de finalização estáveis entre Fase 1 e Fase 3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9" name="Google Shape;289;p17"/>
          <p:cNvSpPr/>
          <p:nvPr/>
        </p:nvSpPr>
        <p:spPr>
          <a:xfrm>
            <a:off x="320040" y="1627632"/>
            <a:ext cx="8503920" cy="576072"/>
          </a:xfrm>
          <a:prstGeom prst="rect">
            <a:avLst/>
          </a:prstGeom>
          <a:solidFill>
            <a:srgbClr val="0D4A80"/>
          </a:solidFill>
          <a:ln cap="flat" cmpd="sng" w="12700">
            <a:solidFill>
              <a:srgbClr val="0D4A8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0" name="Google Shape;290;p17"/>
          <p:cNvSpPr/>
          <p:nvPr/>
        </p:nvSpPr>
        <p:spPr>
          <a:xfrm>
            <a:off x="411480" y="1627632"/>
            <a:ext cx="1417320" cy="5760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94801"/>
              </a:buClr>
              <a:buSzPts val="1100"/>
              <a:buFont typeface="Calibri"/>
              <a:buNone/>
            </a:pPr>
            <a:r>
              <a:rPr b="1" lang="en-US" sz="1100">
                <a:solidFill>
                  <a:srgbClr val="D94801"/>
                </a:solidFill>
                <a:latin typeface="Calibri"/>
                <a:ea typeface="Calibri"/>
                <a:cs typeface="Calibri"/>
                <a:sym typeface="Calibri"/>
              </a:rPr>
              <a:t>Distribuição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1" name="Google Shape;291;p17"/>
          <p:cNvSpPr/>
          <p:nvPr/>
        </p:nvSpPr>
        <p:spPr>
          <a:xfrm>
            <a:off x="1920240" y="1627632"/>
            <a:ext cx="2377440" cy="5760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ADCFC"/>
              </a:buClr>
              <a:buSzPts val="1100"/>
              <a:buFont typeface="Calibri"/>
              <a:buNone/>
            </a:pPr>
            <a:r>
              <a:rPr i="1" lang="en-US" sz="1100">
                <a:solidFill>
                  <a:srgbClr val="CADCFC"/>
                </a:solidFill>
                <a:latin typeface="Calibri"/>
                <a:ea typeface="Calibri"/>
                <a:cs typeface="Calibri"/>
                <a:sym typeface="Calibri"/>
              </a:rPr>
              <a:t>Chutes por jogador/jogo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" name="Google Shape;292;p17"/>
          <p:cNvSpPr/>
          <p:nvPr/>
        </p:nvSpPr>
        <p:spPr>
          <a:xfrm>
            <a:off x="4389120" y="1627632"/>
            <a:ext cx="4343400" cy="5760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lang="en-US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Meias aumentaram; atacantes de ofício diminuíram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3" name="Google Shape;293;p17"/>
          <p:cNvSpPr/>
          <p:nvPr/>
        </p:nvSpPr>
        <p:spPr>
          <a:xfrm>
            <a:off x="320040" y="2249424"/>
            <a:ext cx="8503920" cy="576072"/>
          </a:xfrm>
          <a:prstGeom prst="rect">
            <a:avLst/>
          </a:prstGeom>
          <a:solidFill>
            <a:srgbClr val="0A3D6B"/>
          </a:solidFill>
          <a:ln cap="flat" cmpd="sng" w="12700">
            <a:solidFill>
              <a:srgbClr val="0A3D6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4" name="Google Shape;294;p17"/>
          <p:cNvSpPr/>
          <p:nvPr/>
        </p:nvSpPr>
        <p:spPr>
          <a:xfrm>
            <a:off x="411480" y="2249424"/>
            <a:ext cx="1417320" cy="5760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94801"/>
              </a:buClr>
              <a:buSzPts val="1100"/>
              <a:buFont typeface="Calibri"/>
              <a:buNone/>
            </a:pPr>
            <a:r>
              <a:rPr b="1" lang="en-US" sz="1100">
                <a:solidFill>
                  <a:srgbClr val="D94801"/>
                </a:solidFill>
                <a:latin typeface="Calibri"/>
                <a:ea typeface="Calibri"/>
                <a:cs typeface="Calibri"/>
                <a:sym typeface="Calibri"/>
              </a:rPr>
              <a:t>Posicional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5" name="Google Shape;295;p17"/>
          <p:cNvSpPr/>
          <p:nvPr/>
        </p:nvSpPr>
        <p:spPr>
          <a:xfrm>
            <a:off x="1920240" y="2249424"/>
            <a:ext cx="2377440" cy="5760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ADCFC"/>
              </a:buClr>
              <a:buSzPts val="1100"/>
              <a:buFont typeface="Calibri"/>
              <a:buNone/>
            </a:pPr>
            <a:r>
              <a:rPr i="1" lang="en-US" sz="1100">
                <a:solidFill>
                  <a:srgbClr val="CADCFC"/>
                </a:solidFill>
                <a:latin typeface="Calibri"/>
                <a:ea typeface="Calibri"/>
                <a:cs typeface="Calibri"/>
                <a:sym typeface="Calibri"/>
              </a:rPr>
              <a:t>Finalização por posição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6" name="Google Shape;296;p17"/>
          <p:cNvSpPr/>
          <p:nvPr/>
        </p:nvSpPr>
        <p:spPr>
          <a:xfrm>
            <a:off x="4389120" y="2249424"/>
            <a:ext cx="4343400" cy="5760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lang="en-US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Meio-campo absorveu a função do centroavante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7" name="Google Shape;297;p17"/>
          <p:cNvSpPr/>
          <p:nvPr/>
        </p:nvSpPr>
        <p:spPr>
          <a:xfrm>
            <a:off x="320040" y="2871216"/>
            <a:ext cx="8503920" cy="576072"/>
          </a:xfrm>
          <a:prstGeom prst="rect">
            <a:avLst/>
          </a:prstGeom>
          <a:solidFill>
            <a:srgbClr val="0D4A80"/>
          </a:solidFill>
          <a:ln cap="flat" cmpd="sng" w="12700">
            <a:solidFill>
              <a:srgbClr val="0D4A8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8" name="Google Shape;298;p17"/>
          <p:cNvSpPr/>
          <p:nvPr/>
        </p:nvSpPr>
        <p:spPr>
          <a:xfrm>
            <a:off x="411480" y="2871216"/>
            <a:ext cx="1417320" cy="5760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94801"/>
              </a:buClr>
              <a:buSzPts val="1100"/>
              <a:buFont typeface="Calibri"/>
              <a:buNone/>
            </a:pPr>
            <a:r>
              <a:rPr b="1" lang="en-US" sz="1100">
                <a:solidFill>
                  <a:srgbClr val="D94801"/>
                </a:solidFill>
                <a:latin typeface="Calibri"/>
                <a:ea typeface="Calibri"/>
                <a:cs typeface="Calibri"/>
                <a:sym typeface="Calibri"/>
              </a:rPr>
              <a:t>Concentração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9" name="Google Shape;299;p17"/>
          <p:cNvSpPr/>
          <p:nvPr/>
        </p:nvSpPr>
        <p:spPr>
          <a:xfrm>
            <a:off x="1920240" y="2871216"/>
            <a:ext cx="2377440" cy="5760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ADCFC"/>
              </a:buClr>
              <a:buSzPts val="1100"/>
              <a:buFont typeface="Calibri"/>
              <a:buNone/>
            </a:pPr>
            <a:r>
              <a:rPr i="1" lang="en-US" sz="1100">
                <a:solidFill>
                  <a:srgbClr val="CADCFC"/>
                </a:solidFill>
                <a:latin typeface="Calibri"/>
                <a:ea typeface="Calibri"/>
                <a:cs typeface="Calibri"/>
                <a:sym typeface="Calibri"/>
              </a:rPr>
              <a:t>Índice HHI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0" name="Google Shape;300;p17"/>
          <p:cNvSpPr/>
          <p:nvPr/>
        </p:nvSpPr>
        <p:spPr>
          <a:xfrm>
            <a:off x="4389120" y="2871216"/>
            <a:ext cx="4343400" cy="5760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lang="en-US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HHI menor na Fase 3 — maior coletivismo ofensivo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1" name="Google Shape;301;p17"/>
          <p:cNvSpPr/>
          <p:nvPr/>
        </p:nvSpPr>
        <p:spPr>
          <a:xfrm>
            <a:off x="320040" y="3493008"/>
            <a:ext cx="8503920" cy="576072"/>
          </a:xfrm>
          <a:prstGeom prst="rect">
            <a:avLst/>
          </a:prstGeom>
          <a:solidFill>
            <a:srgbClr val="0A3D6B"/>
          </a:solidFill>
          <a:ln cap="flat" cmpd="sng" w="12700">
            <a:solidFill>
              <a:srgbClr val="0A3D6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2" name="Google Shape;302;p17"/>
          <p:cNvSpPr/>
          <p:nvPr/>
        </p:nvSpPr>
        <p:spPr>
          <a:xfrm>
            <a:off x="411480" y="3493008"/>
            <a:ext cx="1417320" cy="5760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94801"/>
              </a:buClr>
              <a:buSzPts val="1100"/>
              <a:buFont typeface="Calibri"/>
              <a:buNone/>
            </a:pPr>
            <a:r>
              <a:rPr b="1" lang="en-US" sz="1100">
                <a:solidFill>
                  <a:srgbClr val="D94801"/>
                </a:solidFill>
                <a:latin typeface="Calibri"/>
                <a:ea typeface="Calibri"/>
                <a:cs typeface="Calibri"/>
                <a:sym typeface="Calibri"/>
              </a:rPr>
              <a:t>Funcional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3" name="Google Shape;303;p17"/>
          <p:cNvSpPr/>
          <p:nvPr/>
        </p:nvSpPr>
        <p:spPr>
          <a:xfrm>
            <a:off x="1920240" y="3493008"/>
            <a:ext cx="2377440" cy="5760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ADCFC"/>
              </a:buClr>
              <a:buSzPts val="1100"/>
              <a:buFont typeface="Calibri"/>
              <a:buNone/>
            </a:pPr>
            <a:r>
              <a:rPr i="1" lang="en-US" sz="1100">
                <a:solidFill>
                  <a:srgbClr val="CADCFC"/>
                </a:solidFill>
                <a:latin typeface="Calibri"/>
                <a:ea typeface="Calibri"/>
                <a:cs typeface="Calibri"/>
                <a:sym typeface="Calibri"/>
              </a:rPr>
              <a:t>Caso Gündogan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4" name="Google Shape;304;p17"/>
          <p:cNvSpPr/>
          <p:nvPr/>
        </p:nvSpPr>
        <p:spPr>
          <a:xfrm>
            <a:off x="4389120" y="3493008"/>
            <a:ext cx="4343400" cy="5760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lang="en-US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Meia tornou-se artilheiro atuando nas zonas do 9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5" name="Google Shape;305;p17"/>
          <p:cNvSpPr/>
          <p:nvPr/>
        </p:nvSpPr>
        <p:spPr>
          <a:xfrm>
            <a:off x="320040" y="4114800"/>
            <a:ext cx="8503920" cy="576072"/>
          </a:xfrm>
          <a:prstGeom prst="rect">
            <a:avLst/>
          </a:prstGeom>
          <a:solidFill>
            <a:srgbClr val="0D4A80"/>
          </a:solidFill>
          <a:ln cap="flat" cmpd="sng" w="12700">
            <a:solidFill>
              <a:srgbClr val="0D4A8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6" name="Google Shape;306;p17"/>
          <p:cNvSpPr/>
          <p:nvPr/>
        </p:nvSpPr>
        <p:spPr>
          <a:xfrm>
            <a:off x="411480" y="4114800"/>
            <a:ext cx="1417320" cy="5760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94801"/>
              </a:buClr>
              <a:buSzPts val="1100"/>
              <a:buFont typeface="Calibri"/>
              <a:buNone/>
            </a:pPr>
            <a:r>
              <a:rPr b="1" lang="en-US" sz="1100">
                <a:solidFill>
                  <a:srgbClr val="D94801"/>
                </a:solidFill>
                <a:latin typeface="Calibri"/>
                <a:ea typeface="Calibri"/>
                <a:cs typeface="Calibri"/>
                <a:sym typeface="Calibri"/>
              </a:rPr>
              <a:t>Qualidade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7" name="Google Shape;307;p17"/>
          <p:cNvSpPr/>
          <p:nvPr/>
        </p:nvSpPr>
        <p:spPr>
          <a:xfrm>
            <a:off x="1920240" y="4114800"/>
            <a:ext cx="2377440" cy="5760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ADCFC"/>
              </a:buClr>
              <a:buSzPts val="1100"/>
              <a:buFont typeface="Calibri"/>
              <a:buNone/>
            </a:pPr>
            <a:r>
              <a:rPr i="1" lang="en-US" sz="1100">
                <a:solidFill>
                  <a:srgbClr val="CADCFC"/>
                </a:solidFill>
                <a:latin typeface="Calibri"/>
                <a:ea typeface="Calibri"/>
                <a:cs typeface="Calibri"/>
                <a:sym typeface="Calibri"/>
              </a:rPr>
              <a:t>xG por chute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8" name="Google Shape;308;p17"/>
          <p:cNvSpPr/>
          <p:nvPr/>
        </p:nvSpPr>
        <p:spPr>
          <a:xfrm>
            <a:off x="4389120" y="4114800"/>
            <a:ext cx="4343400" cy="5760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lang="en-US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Manutenção ou elevação da qualidade das chances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5346A"/>
        </a:solidFill>
      </p:bgPr>
    </p:bg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18"/>
          <p:cNvSpPr/>
          <p:nvPr/>
        </p:nvSpPr>
        <p:spPr>
          <a:xfrm>
            <a:off x="0" y="0"/>
            <a:ext cx="411480" cy="5143500"/>
          </a:xfrm>
          <a:prstGeom prst="rect">
            <a:avLst/>
          </a:prstGeom>
          <a:solidFill>
            <a:srgbClr val="D94801"/>
          </a:solidFill>
          <a:ln cap="flat" cmpd="sng" w="12700">
            <a:solidFill>
              <a:srgbClr val="D9480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5" name="Google Shape;315;p18"/>
          <p:cNvSpPr/>
          <p:nvPr/>
        </p:nvSpPr>
        <p:spPr>
          <a:xfrm>
            <a:off x="731520" y="320040"/>
            <a:ext cx="80467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94801"/>
              </a:buClr>
              <a:buSzPts val="1800"/>
              <a:buFont typeface="Calibri"/>
              <a:buNone/>
            </a:pPr>
            <a:r>
              <a:rPr b="1" lang="en-US" sz="1800">
                <a:solidFill>
                  <a:srgbClr val="D94801"/>
                </a:solidFill>
                <a:latin typeface="Calibri"/>
                <a:ea typeface="Calibri"/>
                <a:cs typeface="Calibri"/>
                <a:sym typeface="Calibri"/>
              </a:rPr>
              <a:t>A Tese Central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6" name="Google Shape;316;p18"/>
          <p:cNvSpPr/>
          <p:nvPr/>
        </p:nvSpPr>
        <p:spPr>
          <a:xfrm>
            <a:off x="731520" y="868680"/>
            <a:ext cx="8001000" cy="1005840"/>
          </a:xfrm>
          <a:prstGeom prst="rect">
            <a:avLst/>
          </a:prstGeom>
          <a:solidFill>
            <a:srgbClr val="0A3D6B"/>
          </a:solidFill>
          <a:ln cap="flat" cmpd="sng" w="19050">
            <a:solidFill>
              <a:srgbClr val="D9480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7" name="Google Shape;317;p18"/>
          <p:cNvSpPr/>
          <p:nvPr/>
        </p:nvSpPr>
        <p:spPr>
          <a:xfrm>
            <a:off x="822960" y="868680"/>
            <a:ext cx="781812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Calibri"/>
              <a:buNone/>
            </a:pPr>
            <a:r>
              <a:rPr b="1" lang="en-US" sz="20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"No sistema de Guardiola, a zona exerce o papel do centroavante."</a:t>
            </a:r>
            <a:endParaRPr sz="2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8" name="Google Shape;318;p18"/>
          <p:cNvSpPr/>
          <p:nvPr/>
        </p:nvSpPr>
        <p:spPr>
          <a:xfrm>
            <a:off x="731520" y="2084832"/>
            <a:ext cx="384048" cy="384048"/>
          </a:xfrm>
          <a:prstGeom prst="ellipse">
            <a:avLst/>
          </a:prstGeom>
          <a:solidFill>
            <a:srgbClr val="D94801"/>
          </a:solidFill>
          <a:ln cap="flat" cmpd="sng" w="12700">
            <a:solidFill>
              <a:srgbClr val="D9480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9" name="Google Shape;319;p18"/>
          <p:cNvSpPr/>
          <p:nvPr/>
        </p:nvSpPr>
        <p:spPr>
          <a:xfrm>
            <a:off x="731520" y="2084832"/>
            <a:ext cx="384048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lang="en-US" sz="14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0" name="Google Shape;320;p18"/>
          <p:cNvSpPr/>
          <p:nvPr/>
        </p:nvSpPr>
        <p:spPr>
          <a:xfrm>
            <a:off x="1234440" y="2011680"/>
            <a:ext cx="7498080" cy="80467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94801"/>
              </a:buClr>
              <a:buSzPts val="1200"/>
              <a:buFont typeface="Calibri"/>
              <a:buNone/>
            </a:pPr>
            <a:r>
              <a:rPr b="1" lang="en-US" sz="1200">
                <a:solidFill>
                  <a:srgbClr val="D94801"/>
                </a:solidFill>
                <a:latin typeface="Calibri"/>
                <a:ea typeface="Calibri"/>
                <a:cs typeface="Calibri"/>
                <a:sym typeface="Calibri"/>
              </a:rPr>
              <a:t>PERFIL DE SCOUTING  </a:t>
            </a:r>
            <a:r>
              <a:rPr lang="en-US" sz="1200">
                <a:solidFill>
                  <a:srgbClr val="CADCFC"/>
                </a:solidFill>
                <a:latin typeface="Calibri"/>
                <a:ea typeface="Calibri"/>
                <a:cs typeface="Calibri"/>
                <a:sym typeface="Calibri"/>
              </a:rPr>
              <a:t>Jogadores como Gündogan — com posicionamento inteligente, chegada tardia e qualidade de finalização — são mais compatíveis com sistemas de falso 9 do que centroavantes tradicionais.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18"/>
          <p:cNvSpPr/>
          <p:nvPr/>
        </p:nvSpPr>
        <p:spPr>
          <a:xfrm>
            <a:off x="731520" y="2953512"/>
            <a:ext cx="384048" cy="384048"/>
          </a:xfrm>
          <a:prstGeom prst="ellipse">
            <a:avLst/>
          </a:prstGeom>
          <a:solidFill>
            <a:srgbClr val="4A9FD4"/>
          </a:solidFill>
          <a:ln cap="flat" cmpd="sng" w="12700">
            <a:solidFill>
              <a:srgbClr val="4A9F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2" name="Google Shape;322;p18"/>
          <p:cNvSpPr/>
          <p:nvPr/>
        </p:nvSpPr>
        <p:spPr>
          <a:xfrm>
            <a:off x="731520" y="2953512"/>
            <a:ext cx="384048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lang="en-US" sz="14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3" name="Google Shape;323;p18"/>
          <p:cNvSpPr/>
          <p:nvPr/>
        </p:nvSpPr>
        <p:spPr>
          <a:xfrm>
            <a:off x="1234440" y="2880360"/>
            <a:ext cx="7498080" cy="80467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9FD4"/>
              </a:buClr>
              <a:buSzPts val="1200"/>
              <a:buFont typeface="Calibri"/>
              <a:buNone/>
            </a:pPr>
            <a:r>
              <a:rPr b="1" lang="en-US" sz="1200">
                <a:solidFill>
                  <a:srgbClr val="4A9FD4"/>
                </a:solidFill>
                <a:latin typeface="Calibri"/>
                <a:ea typeface="Calibri"/>
                <a:cs typeface="Calibri"/>
                <a:sym typeface="Calibri"/>
              </a:rPr>
              <a:t>MÉTRICAS SISTÊMICAS  </a:t>
            </a:r>
            <a:r>
              <a:rPr lang="en-US" sz="1200">
                <a:solidFill>
                  <a:srgbClr val="CADCFC"/>
                </a:solidFill>
                <a:latin typeface="Calibri"/>
                <a:ea typeface="Calibri"/>
                <a:cs typeface="Calibri"/>
                <a:sym typeface="Calibri"/>
              </a:rPr>
              <a:t>'xG criado pelo sistema' é mais informativo do que 'xG individual do atacante' ao avaliar times de posse e posicionamento.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4" name="Google Shape;324;p18"/>
          <p:cNvSpPr/>
          <p:nvPr/>
        </p:nvSpPr>
        <p:spPr>
          <a:xfrm>
            <a:off x="731520" y="3822192"/>
            <a:ext cx="384048" cy="384048"/>
          </a:xfrm>
          <a:prstGeom prst="ellipse">
            <a:avLst/>
          </a:prstGeom>
          <a:solidFill>
            <a:srgbClr val="5CB85C"/>
          </a:solidFill>
          <a:ln cap="flat" cmpd="sng" w="12700">
            <a:solidFill>
              <a:srgbClr val="5CB8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5" name="Google Shape;325;p18"/>
          <p:cNvSpPr/>
          <p:nvPr/>
        </p:nvSpPr>
        <p:spPr>
          <a:xfrm>
            <a:off x="731520" y="3822192"/>
            <a:ext cx="384048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lang="en-US" sz="14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6" name="Google Shape;326;p18"/>
          <p:cNvSpPr/>
          <p:nvPr/>
        </p:nvSpPr>
        <p:spPr>
          <a:xfrm>
            <a:off x="1234440" y="3749040"/>
            <a:ext cx="7498080" cy="80467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CB85C"/>
              </a:buClr>
              <a:buSzPts val="1200"/>
              <a:buFont typeface="Calibri"/>
              <a:buNone/>
            </a:pPr>
            <a:r>
              <a:rPr b="1" lang="en-US" sz="1200">
                <a:solidFill>
                  <a:srgbClr val="5CB85C"/>
                </a:solidFill>
                <a:latin typeface="Calibri"/>
                <a:ea typeface="Calibri"/>
                <a:cs typeface="Calibri"/>
                <a:sym typeface="Calibri"/>
              </a:rPr>
              <a:t>RESILIÊNCIA ESTRUTURAL  </a:t>
            </a:r>
            <a:r>
              <a:rPr lang="en-US" sz="1200">
                <a:solidFill>
                  <a:srgbClr val="CADCFC"/>
                </a:solidFill>
                <a:latin typeface="Calibri"/>
                <a:ea typeface="Calibri"/>
                <a:cs typeface="Calibri"/>
                <a:sym typeface="Calibri"/>
              </a:rPr>
              <a:t>O sistema gera a função do centroavante como propriedade emergente do coletivo — não como atribuição individual. Modelo estruturalmente mais resiliente a lesões e indisponibilidades.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7" name="Google Shape;327;p18"/>
          <p:cNvSpPr/>
          <p:nvPr/>
        </p:nvSpPr>
        <p:spPr>
          <a:xfrm>
            <a:off x="731520" y="4617720"/>
            <a:ext cx="804672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Calibri"/>
              <a:buNone/>
            </a:pPr>
            <a:r>
              <a:rPr i="1" lang="en-US" sz="1000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"O futebol de posição de Guardiola é o mais próximo que o futebol chegou de uma coreografia coletiva consciente." — Spielverlagerung, 2014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32" name="Shape 3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Google Shape;333;p19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8519C"/>
          </a:solidFill>
          <a:ln cap="flat" cmpd="sng" w="12700">
            <a:solidFill>
              <a:srgbClr val="08519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4" name="Google Shape;334;p19"/>
          <p:cNvSpPr/>
          <p:nvPr/>
        </p:nvSpPr>
        <p:spPr>
          <a:xfrm>
            <a:off x="411480" y="164592"/>
            <a:ext cx="83210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8519C"/>
              </a:buClr>
              <a:buSzPts val="2200"/>
              <a:buFont typeface="Calibri"/>
              <a:buNone/>
            </a:pPr>
            <a:r>
              <a:rPr b="1" lang="en-US" sz="2200">
                <a:solidFill>
                  <a:srgbClr val="08519C"/>
                </a:solidFill>
                <a:latin typeface="Calibri"/>
                <a:ea typeface="Calibri"/>
                <a:cs typeface="Calibri"/>
                <a:sym typeface="Calibri"/>
              </a:rPr>
              <a:t>Limitações Metodológicas</a:t>
            </a:r>
            <a:endParaRPr sz="2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5" name="Google Shape;335;p19"/>
          <p:cNvSpPr/>
          <p:nvPr/>
        </p:nvSpPr>
        <p:spPr>
          <a:xfrm>
            <a:off x="320040" y="1051560"/>
            <a:ext cx="8503920" cy="1097280"/>
          </a:xfrm>
          <a:prstGeom prst="rect">
            <a:avLst/>
          </a:prstGeom>
          <a:solidFill>
            <a:srgbClr val="F5F7FA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6" name="Google Shape;336;p19"/>
          <p:cNvSpPr/>
          <p:nvPr/>
        </p:nvSpPr>
        <p:spPr>
          <a:xfrm>
            <a:off x="320040" y="1051560"/>
            <a:ext cx="54864" cy="1097280"/>
          </a:xfrm>
          <a:prstGeom prst="rect">
            <a:avLst/>
          </a:prstGeom>
          <a:solidFill>
            <a:srgbClr val="08519C"/>
          </a:solidFill>
          <a:ln cap="flat" cmpd="sng" w="12700">
            <a:solidFill>
              <a:srgbClr val="08519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7" name="Google Shape;337;p19"/>
          <p:cNvSpPr/>
          <p:nvPr/>
        </p:nvSpPr>
        <p:spPr>
          <a:xfrm>
            <a:off x="457200" y="1143000"/>
            <a:ext cx="82296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8519C"/>
              </a:buClr>
              <a:buSzPts val="1300"/>
              <a:buFont typeface="Calibri"/>
              <a:buNone/>
            </a:pPr>
            <a:r>
              <a:rPr b="1" lang="en-US" sz="1300">
                <a:solidFill>
                  <a:srgbClr val="08519C"/>
                </a:solidFill>
                <a:latin typeface="Calibri"/>
                <a:ea typeface="Calibri"/>
                <a:cs typeface="Calibri"/>
                <a:sym typeface="Calibri"/>
              </a:rPr>
              <a:t>⚠  Dados apenas de finalização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8" name="Google Shape;338;p19"/>
          <p:cNvSpPr/>
          <p:nvPr/>
        </p:nvSpPr>
        <p:spPr>
          <a:xfrm>
            <a:off x="457200" y="1435608"/>
            <a:ext cx="82296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200"/>
              <a:buFont typeface="Calibri"/>
              <a:buNone/>
            </a:pPr>
            <a:r>
              <a:rPr lang="en-US" sz="120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O Understat fornece somente eventos de chute. Análises de posse, pressão, passes progressivos e controle territorial requerem fontes complementares como Statsbomb ou Wyscout.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9" name="Google Shape;339;p19"/>
          <p:cNvSpPr/>
          <p:nvPr/>
        </p:nvSpPr>
        <p:spPr>
          <a:xfrm>
            <a:off x="320040" y="2221992"/>
            <a:ext cx="8503920" cy="1097280"/>
          </a:xfrm>
          <a:prstGeom prst="rect">
            <a:avLst/>
          </a:prstGeom>
          <a:solidFill>
            <a:srgbClr val="F5F7FA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0" name="Google Shape;340;p19"/>
          <p:cNvSpPr/>
          <p:nvPr/>
        </p:nvSpPr>
        <p:spPr>
          <a:xfrm>
            <a:off x="320040" y="2221992"/>
            <a:ext cx="54864" cy="1097280"/>
          </a:xfrm>
          <a:prstGeom prst="rect">
            <a:avLst/>
          </a:prstGeom>
          <a:solidFill>
            <a:srgbClr val="08519C"/>
          </a:solidFill>
          <a:ln cap="flat" cmpd="sng" w="12700">
            <a:solidFill>
              <a:srgbClr val="08519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1" name="Google Shape;341;p19"/>
          <p:cNvSpPr/>
          <p:nvPr/>
        </p:nvSpPr>
        <p:spPr>
          <a:xfrm>
            <a:off x="457200" y="2313432"/>
            <a:ext cx="82296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8519C"/>
              </a:buClr>
              <a:buSzPts val="1300"/>
              <a:buFont typeface="Calibri"/>
              <a:buNone/>
            </a:pPr>
            <a:r>
              <a:rPr b="1" lang="en-US" sz="1300">
                <a:solidFill>
                  <a:srgbClr val="08519C"/>
                </a:solidFill>
                <a:latin typeface="Calibri"/>
                <a:ea typeface="Calibri"/>
                <a:cs typeface="Calibri"/>
                <a:sym typeface="Calibri"/>
              </a:rPr>
              <a:t>⚠  Ausência de controle por adversário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2" name="Google Shape;342;p19"/>
          <p:cNvSpPr/>
          <p:nvPr/>
        </p:nvSpPr>
        <p:spPr>
          <a:xfrm>
            <a:off x="457200" y="2606040"/>
            <a:ext cx="82296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200"/>
              <a:buFont typeface="Calibri"/>
              <a:buNone/>
            </a:pPr>
            <a:r>
              <a:rPr lang="en-US" sz="120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A qualidade dos adversários varia significativamente entre as fases — times mais fracos podem inflar o xG e a taxa de conversão na Fase 3.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3" name="Google Shape;343;p19"/>
          <p:cNvSpPr/>
          <p:nvPr/>
        </p:nvSpPr>
        <p:spPr>
          <a:xfrm>
            <a:off x="320040" y="3392424"/>
            <a:ext cx="8503920" cy="1097280"/>
          </a:xfrm>
          <a:prstGeom prst="rect">
            <a:avLst/>
          </a:prstGeom>
          <a:solidFill>
            <a:srgbClr val="F5F7FA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4" name="Google Shape;344;p19"/>
          <p:cNvSpPr/>
          <p:nvPr/>
        </p:nvSpPr>
        <p:spPr>
          <a:xfrm>
            <a:off x="320040" y="3392424"/>
            <a:ext cx="54864" cy="1097280"/>
          </a:xfrm>
          <a:prstGeom prst="rect">
            <a:avLst/>
          </a:prstGeom>
          <a:solidFill>
            <a:srgbClr val="08519C"/>
          </a:solidFill>
          <a:ln cap="flat" cmpd="sng" w="12700">
            <a:solidFill>
              <a:srgbClr val="08519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19"/>
          <p:cNvSpPr/>
          <p:nvPr/>
        </p:nvSpPr>
        <p:spPr>
          <a:xfrm>
            <a:off x="457200" y="3483864"/>
            <a:ext cx="82296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8519C"/>
              </a:buClr>
              <a:buSzPts val="1300"/>
              <a:buFont typeface="Calibri"/>
              <a:buNone/>
            </a:pPr>
            <a:r>
              <a:rPr b="1" lang="en-US" sz="1300">
                <a:solidFill>
                  <a:srgbClr val="08519C"/>
                </a:solidFill>
                <a:latin typeface="Calibri"/>
                <a:ea typeface="Calibri"/>
                <a:cs typeface="Calibri"/>
                <a:sym typeface="Calibri"/>
              </a:rPr>
              <a:t>⚠  Causalidade vs. correlação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6" name="Google Shape;346;p19"/>
          <p:cNvSpPr/>
          <p:nvPr/>
        </p:nvSpPr>
        <p:spPr>
          <a:xfrm>
            <a:off x="457200" y="3776472"/>
            <a:ext cx="82296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200"/>
              <a:buFont typeface="Calibri"/>
              <a:buNone/>
            </a:pPr>
            <a:r>
              <a:rPr lang="en-US" sz="120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Os dados mostram que as mudanças ocorreram após a lesão do Agüero, mas não isolam causalidade direta — calendário, forma individual, fatores externos (COVID) também influenciam.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7" name="Google Shape;347;p19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08519C"/>
          </a:solidFill>
          <a:ln cap="flat" cmpd="sng" w="12700">
            <a:solidFill>
              <a:srgbClr val="08519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8" name="Google Shape;348;p19"/>
          <p:cNvSpPr/>
          <p:nvPr/>
        </p:nvSpPr>
        <p:spPr>
          <a:xfrm>
            <a:off x="274320" y="4846320"/>
            <a:ext cx="8595360" cy="2971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ADCFC"/>
              </a:buClr>
              <a:buSzPts val="1000"/>
              <a:buFont typeface="Calibri"/>
              <a:buNone/>
            </a:pPr>
            <a:r>
              <a:rPr lang="en-US" sz="1000">
                <a:solidFill>
                  <a:srgbClr val="CADCFC"/>
                </a:solidFill>
                <a:latin typeface="Calibri"/>
                <a:ea typeface="Calibri"/>
                <a:cs typeface="Calibri"/>
                <a:sym typeface="Calibri"/>
              </a:rPr>
              <a:t>Dados: Understat via soccerdata (Python)  ·  Análise: Python (pandas, mplsoccer, seaborn, scipy)  ·  Premier League 2020/21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