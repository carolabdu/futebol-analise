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2" r:id="rId14"/>
    <p:sldId id="268" r:id="rId15"/>
    <p:sldId id="269" r:id="rId16"/>
    <p:sldId id="270" r:id="rId17"/>
    <p:sldId id="271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848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0068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16C09-A9BB-B10B-1FD4-22954B5CD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C8CAA9-ACCD-3112-CEF2-A08577C1F8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686F32-E9A6-A588-1C67-E43C218DFE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E039F5-C6AE-568C-86AD-162CA2E719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1840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346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D94801"/>
          </a:solidFill>
          <a:ln w="12700">
            <a:solidFill>
              <a:srgbClr val="D948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Metamorfose do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Manchester City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Pep Guardiola Reinventou o Ataque Sem um Centroavante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44348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League 2020/21  ·  Análise de Dados de Eventos (Understat)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4801"/>
          </a:solidFill>
          <a:ln w="12700">
            <a:solidFill>
              <a:srgbClr val="D948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5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Hipótese Central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8321040" cy="1691640"/>
          </a:xfrm>
          <a:prstGeom prst="rect">
            <a:avLst/>
          </a:prstGeom>
          <a:solidFill>
            <a:srgbClr val="05346A"/>
          </a:solidFill>
          <a:ln w="12700">
            <a:solidFill>
              <a:srgbClr val="053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960120"/>
            <a:ext cx="79552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"Após a lesão de Sergio Agüero em 24 de outubro de 2020, o Manchester City não apenas adaptou seu sistema — ele o transformou estruturalmente, migrando de um modelo de finalização concentrada para um de dispersão coletiva."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11480" y="2788920"/>
            <a:ext cx="8321040" cy="1417320"/>
          </a:xfrm>
          <a:prstGeom prst="rect">
            <a:avLst/>
          </a:prstGeom>
          <a:solidFill>
            <a:srgbClr val="EBF2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2788920"/>
            <a:ext cx="73152" cy="1417320"/>
          </a:xfrm>
          <a:prstGeom prst="rect">
            <a:avLst/>
          </a:prstGeom>
          <a:solidFill>
            <a:srgbClr val="D94801"/>
          </a:solidFill>
          <a:ln w="12700">
            <a:solidFill>
              <a:srgbClr val="D948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2834640"/>
            <a:ext cx="79552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5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guia: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 papel do centroavante não foi eliminado, mas redistribuído: a </a:t>
            </a:r>
            <a:r>
              <a:rPr lang="en-US" sz="1400" b="1" i="1" dirty="0">
                <a:solidFill>
                  <a:srgbClr val="D948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passou a exercer a função que antes era </a:t>
            </a:r>
            <a:r>
              <a:rPr lang="en-US" sz="1400" b="1" i="1" dirty="0">
                <a:solidFill>
                  <a:srgbClr val="085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."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519C"/>
          </a:solidFill>
          <a:ln w="12700">
            <a:solidFill>
              <a:srgbClr val="0851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5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Contexto da Análise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54864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 irregular do City em 2020/21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Esperado favorito ao título, a equipe oscilou nas primeiras rodadas sem consistência ofensiva.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Lesão do único centroavante de referência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Sergio Agüero lesionou-se em 24/out/2020, deixando o time sem um 9 tradicional.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vitórias consecutivas a partir de janeiro 2021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vez de enfraquecer o time, a ausência de Agüero acelerou uma transformação sistêmica que culminou no título da Premier League.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263640" y="1005840"/>
            <a:ext cx="2468880" cy="3749040"/>
          </a:xfrm>
          <a:prstGeom prst="rect">
            <a:avLst/>
          </a:prstGeom>
          <a:solidFill>
            <a:srgbClr val="EBF2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263640" y="1005840"/>
            <a:ext cx="2468880" cy="347472"/>
          </a:xfrm>
          <a:prstGeom prst="rect">
            <a:avLst/>
          </a:prstGeom>
          <a:solidFill>
            <a:srgbClr val="08519C"/>
          </a:solidFill>
          <a:ln w="12700">
            <a:solidFill>
              <a:srgbClr val="0851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263640" y="10058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55080" y="1417320"/>
            <a:ext cx="228600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85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Understat via soccerdata (Python)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85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Chutes analisados: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601 eventos do Manchester City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85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Competição: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League 2020/21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85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por chute: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Coordenadas XY, xG,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resultado, jogador, data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4801"/>
          </a:solidFill>
          <a:ln w="12700">
            <a:solidFill>
              <a:srgbClr val="D948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5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da Investigação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621792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38912" cy="438912"/>
          </a:xfrm>
          <a:prstGeom prst="ellipse">
            <a:avLst/>
          </a:prstGeom>
          <a:solidFill>
            <a:srgbClr val="08519C"/>
          </a:solidFill>
          <a:ln w="12700">
            <a:solidFill>
              <a:srgbClr val="0851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86968" y="1005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85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Periodização Tática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86968" y="1261872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exatamente ocorreu a transição sistêmica?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627632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1719072"/>
            <a:ext cx="438912" cy="438912"/>
          </a:xfrm>
          <a:prstGeom prst="ellipse">
            <a:avLst/>
          </a:prstGeom>
          <a:solidFill>
            <a:srgbClr val="08519C"/>
          </a:solidFill>
          <a:ln w="12700">
            <a:solidFill>
              <a:srgbClr val="0851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17190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86968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85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Estabilidade Espacial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86968" y="1929384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zonas de chute realmente permaneceram estáveis?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295144"/>
            <a:ext cx="8503920" cy="621792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2386584"/>
            <a:ext cx="438912" cy="438912"/>
          </a:xfrm>
          <a:prstGeom prst="ellipse">
            <a:avLst/>
          </a:prstGeom>
          <a:solidFill>
            <a:srgbClr val="08519C"/>
          </a:solidFill>
          <a:ln w="12700">
            <a:solidFill>
              <a:srgbClr val="0851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23865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86968" y="23408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85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Redistribuição dos Finalizadores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86968" y="2596896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passou a finalizar mais — e por quê?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2962656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5760" y="3054096"/>
            <a:ext cx="438912" cy="438912"/>
          </a:xfrm>
          <a:prstGeom prst="ellipse">
            <a:avLst/>
          </a:prstGeom>
          <a:solidFill>
            <a:srgbClr val="08519C"/>
          </a:solidFill>
          <a:ln w="12700">
            <a:solidFill>
              <a:srgbClr val="0851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" y="30540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86968" y="30083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85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HHI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86968" y="3264408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ficou objetivamente menos concentrado?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3630168"/>
            <a:ext cx="8503920" cy="621792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65760" y="3721608"/>
            <a:ext cx="438912" cy="438912"/>
          </a:xfrm>
          <a:prstGeom prst="ellipse">
            <a:avLst/>
          </a:prstGeom>
          <a:solidFill>
            <a:srgbClr val="08519C"/>
          </a:solidFill>
          <a:ln w="12700">
            <a:solidFill>
              <a:srgbClr val="0851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65760" y="37216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86968" y="36758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85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 de Caso: Gündogan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86968" y="3931920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um meia se tornou artilheiro do título?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4297680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65760" y="4389120"/>
            <a:ext cx="438912" cy="438912"/>
          </a:xfrm>
          <a:prstGeom prst="ellipse">
            <a:avLst/>
          </a:prstGeom>
          <a:solidFill>
            <a:srgbClr val="08519C"/>
          </a:solidFill>
          <a:ln w="12700">
            <a:solidFill>
              <a:srgbClr val="0851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65760" y="43891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86968" y="4343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85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vs. Quantidade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86968" y="4599432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criou chances melhores ou apenas redistribuiu?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519C"/>
          </a:solidFill>
          <a:ln w="12700">
            <a:solidFill>
              <a:srgbClr val="0851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5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 1 — Periodização Tática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ocorreu a transição sistêmica?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2697480" cy="292608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2697480" cy="457200"/>
          </a:xfrm>
          <a:prstGeom prst="rect">
            <a:avLst/>
          </a:prstGeom>
          <a:solidFill>
            <a:srgbClr val="D94801"/>
          </a:solidFill>
          <a:ln w="12700">
            <a:solidFill>
              <a:srgbClr val="D948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1887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· Pré-Lesão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768" y="173736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9768" y="19202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48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21/set → 24/out 2020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9768" y="230428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Chutes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9768" y="24871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48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9768" y="287121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Jogos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29768" y="305409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48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9768" y="343814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Chutes / Jogo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9768" y="362102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48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16,5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0" y="1188720"/>
            <a:ext cx="2697480" cy="292608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00400" y="1188720"/>
            <a:ext cx="2697480" cy="4572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00400" y="11887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Transição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10128" y="173736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10128" y="19202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25/out/2020 → 02/jan/2021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310128" y="230428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Chutes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10128" y="24871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10128" y="287121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Jogos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10128" y="305409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310128" y="343814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Chutes / Jogo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10128" y="362102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15,2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080760" y="1188720"/>
            <a:ext cx="2697480" cy="292608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080760" y="1188720"/>
            <a:ext cx="2697480" cy="457200"/>
          </a:xfrm>
          <a:prstGeom prst="rect">
            <a:avLst/>
          </a:prstGeom>
          <a:solidFill>
            <a:srgbClr val="08519C"/>
          </a:solidFill>
          <a:ln w="12700">
            <a:solidFill>
              <a:srgbClr val="0851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080760" y="11887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Consolidação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190488" y="173736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90488" y="19202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5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03/jan → 23/mai 2021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190488" y="230428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Chutes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90488" y="24871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5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383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190488" y="287121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Jogos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90488" y="305409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5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190488" y="343814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Chutes / Jogo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190488" y="362102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5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16,0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20040" y="4297680"/>
            <a:ext cx="8503920" cy="548640"/>
          </a:xfrm>
          <a:prstGeom prst="rect">
            <a:avLst/>
          </a:prstGeom>
          <a:solidFill>
            <a:srgbClr val="EBF2FA"/>
          </a:solidFill>
          <a:ln w="12700">
            <a:solidFill>
              <a:srgbClr val="EBF2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320040" y="4297680"/>
            <a:ext cx="54864" cy="548640"/>
          </a:xfrm>
          <a:prstGeom prst="rect">
            <a:avLst/>
          </a:prstGeom>
          <a:solidFill>
            <a:srgbClr val="D94801"/>
          </a:solidFill>
          <a:ln w="12700">
            <a:solidFill>
              <a:srgbClr val="D948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48056" y="4297680"/>
            <a:ext cx="8348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85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volume de chutes por jogo permaneceu praticamente estável entre as fases — o que mudou foi a composição dos executores.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519C"/>
          </a:solidFill>
          <a:ln w="12700">
            <a:solidFill>
              <a:srgbClr val="0851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5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 1 — Mapa de Chutes por Fase (Time Completo)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85039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Inserir gráfico: Scatter plot — Fase 1 (cores por jogador, laranja) vs Fase 3 (azul)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Estrelas douradas = gols | Cinza = outros jogadores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4251960"/>
            <a:ext cx="201168" cy="201168"/>
          </a:xfrm>
          <a:prstGeom prst="rect">
            <a:avLst/>
          </a:prstGeom>
          <a:solidFill>
            <a:schemeClr val="accent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4206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— Com Agüero: chutes concentrados no lado direito, atacantes de ofício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4562856"/>
            <a:ext cx="201168" cy="201168"/>
          </a:xfrm>
          <a:prstGeom prst="rect">
            <a:avLst/>
          </a:prstGeom>
          <a:solidFill>
            <a:srgbClr val="08519C"/>
          </a:solidFill>
          <a:ln w="12700">
            <a:solidFill>
              <a:srgbClr val="0851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45171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— Falso 9: meias e pontas construtivos (Gündogan, Foden, De Bruyne) figuram entre os principais finalizadores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4873752"/>
            <a:ext cx="201168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4828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Círculos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Amarelos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gols marcados em cada fase</a:t>
            </a:r>
            <a:endParaRPr lang="en-US" sz="10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CD87E52-6701-33E5-C828-1BC90D05D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1685" y="758952"/>
            <a:ext cx="5900688" cy="341684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4801"/>
          </a:solidFill>
          <a:ln w="12700">
            <a:solidFill>
              <a:srgbClr val="D948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5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 2 — O Paradoxo da Estabilidade Espacial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as zonas de finalização permaneceram estáveis mesmo sem um centroavante?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069080" cy="3566160"/>
          </a:xfrm>
          <a:prstGeom prst="rect">
            <a:avLst/>
          </a:prstGeom>
          <a:solidFill>
            <a:srgbClr val="EBF2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4069080" cy="384048"/>
          </a:xfrm>
          <a:prstGeom prst="rect">
            <a:avLst/>
          </a:prstGeom>
          <a:solidFill>
            <a:srgbClr val="08519C"/>
          </a:solidFill>
          <a:ln w="12700">
            <a:solidFill>
              <a:srgbClr val="0851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 DO JOGO DE POSIÇÃO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37947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sistema de Guardiola, o campo é concebido como </a:t>
            </a:r>
            <a:r>
              <a:rPr lang="en-US" sz="1250" b="1" dirty="0">
                <a:solidFill>
                  <a:srgbClr val="085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zonas com funções pré-definidas.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objetivo coletivo é fazer a bola chegar às </a:t>
            </a:r>
            <a:r>
              <a:rPr lang="en-US" sz="1250" b="1" dirty="0">
                <a:solidFill>
                  <a:srgbClr val="D948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zonas de alto xG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por circulação organizada — não por genialidade individual.
</a:t>
            </a:r>
            <a:r>
              <a:rPr lang="en-US" sz="1250" b="1" dirty="0">
                <a:solidFill>
                  <a:srgbClr val="085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Resultado: </a:t>
            </a: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"demanda" a ocupação das mesmas zonas, independentemente do jogador.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069080" cy="356616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4069080" cy="384048"/>
          </a:xfrm>
          <a:prstGeom prst="rect">
            <a:avLst/>
          </a:prstGeom>
          <a:solidFill>
            <a:srgbClr val="D94801"/>
          </a:solidFill>
          <a:ln w="12700">
            <a:solidFill>
              <a:srgbClr val="D948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0" y="109728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PREDIÇÕES DA HIPÓTESE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92040" y="1554480"/>
            <a:ext cx="37947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hipótese do falso 9 for verdadeira:
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Zonas de finalização estáveis entre Fase 1 e Fase 3
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diversidade de finalizadores na Fase 3
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Meias e pontas construtivos entre os principais finalizadores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4801"/>
          </a:solidFill>
          <a:ln w="12700">
            <a:solidFill>
              <a:srgbClr val="D948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5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 2 — Zonas de Finalização: Densidade por Fase (KDE)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85039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Inserir gráfico: KDE heatmap lado a lado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(laranja, com Agüero) · Fase 3 (azul, falso 9 consolidado)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Estrelas douradas = gols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3840480"/>
            <a:ext cx="347472" cy="347472"/>
          </a:xfrm>
          <a:prstGeom prst="ellipse">
            <a:avLst/>
          </a:prstGeom>
          <a:solidFill>
            <a:srgbClr val="08519C"/>
          </a:solidFill>
          <a:ln w="12700">
            <a:solidFill>
              <a:srgbClr val="0851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3840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58952" y="3822192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85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POSICIONAMENTO LATERAL 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(laranja): núcleo deslocado para o lado direito da área — posicionamento preferencial de Agüero. Fase 3 (azul): chutes distribuídos simetricamente por toda a largura da área.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" y="4434840"/>
            <a:ext cx="347472" cy="347472"/>
          </a:xfrm>
          <a:prstGeom prst="ellipse">
            <a:avLst/>
          </a:prstGeom>
          <a:solidFill>
            <a:srgbClr val="08519C"/>
          </a:solidFill>
          <a:ln w="12700">
            <a:solidFill>
              <a:srgbClr val="0851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4434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58952" y="4416552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85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PROFUNDIDADE DE FINALIZAÇÃO 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 9 gerou menos chutes a partir da entrada da área (meia-lua). Com múltiplos jogadores chegando de ângulos distintos, as finalizações ocorrem dentro da grande área, mas dispersas lateralmente.</a:t>
            </a:r>
            <a:endParaRPr lang="en-US" sz="11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60A17F4-C58C-9553-126A-5ABA2AAC6E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1356" y="757091"/>
            <a:ext cx="5130163" cy="306510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519C"/>
          </a:solidFill>
          <a:ln w="12700">
            <a:solidFill>
              <a:srgbClr val="0851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5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 3.1 — Redistribuição dos Finalizadores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Chutes por jogo antes (Fase 1) e depois (Fase 3) da lesão do Agüero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46520" y="1005840"/>
            <a:ext cx="2377440" cy="1005840"/>
          </a:xfrm>
          <a:prstGeom prst="rect">
            <a:avLst/>
          </a:prstGeom>
          <a:solidFill>
            <a:srgbClr val="EBF2FA"/>
          </a:solidFill>
          <a:ln w="12700">
            <a:solidFill>
              <a:srgbClr val="EBF2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46520" y="1005840"/>
            <a:ext cx="54864" cy="1005840"/>
          </a:xfrm>
          <a:prstGeom prst="rect">
            <a:avLst/>
          </a:prstGeom>
          <a:solidFill>
            <a:srgbClr val="D94801"/>
          </a:solidFill>
          <a:ln w="12700">
            <a:solidFill>
              <a:srgbClr val="D948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74536" y="1005840"/>
            <a:ext cx="22219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85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 Gündogan tornou-se o maior artilheiro do City na 2ª metade da temporada — de meia posicional a finalizador de área.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46520" y="2103120"/>
            <a:ext cx="2377440" cy="1005840"/>
          </a:xfrm>
          <a:prstGeom prst="rect">
            <a:avLst/>
          </a:prstGeom>
          <a:solidFill>
            <a:srgbClr val="EBF2FA"/>
          </a:solidFill>
          <a:ln w="12700">
            <a:solidFill>
              <a:srgbClr val="EBF2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46520" y="2103120"/>
            <a:ext cx="54864" cy="1005840"/>
          </a:xfrm>
          <a:prstGeom prst="rect">
            <a:avLst/>
          </a:prstGeom>
          <a:solidFill>
            <a:srgbClr val="D94801"/>
          </a:solidFill>
          <a:ln w="12700">
            <a:solidFill>
              <a:srgbClr val="D948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74536" y="2103120"/>
            <a:ext cx="22219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85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 Foden e Bernardo Silva aumentaram expressivamente suas participações ofensivas.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46520" y="3200400"/>
            <a:ext cx="2377440" cy="1005840"/>
          </a:xfrm>
          <a:prstGeom prst="rect">
            <a:avLst/>
          </a:prstGeom>
          <a:solidFill>
            <a:srgbClr val="EBF2FA"/>
          </a:solidFill>
          <a:ln w="12700">
            <a:solidFill>
              <a:srgbClr val="EBF2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446520" y="3200400"/>
            <a:ext cx="54864" cy="1005840"/>
          </a:xfrm>
          <a:prstGeom prst="rect">
            <a:avLst/>
          </a:prstGeom>
          <a:solidFill>
            <a:srgbClr val="D94801"/>
          </a:solidFill>
          <a:ln w="12700">
            <a:solidFill>
              <a:srgbClr val="D948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74536" y="3200400"/>
            <a:ext cx="22219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85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⚽  O sistema distribuiu a 'função do 9' coletivamente — sem dependência de um único executante.</a:t>
            </a:r>
            <a:endParaRPr lang="en-US" sz="11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05066DC-EA1A-57BF-B1CB-26A32196B9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078668"/>
            <a:ext cx="5825634" cy="36713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519C"/>
          </a:solidFill>
          <a:ln w="12700">
            <a:solidFill>
              <a:srgbClr val="0851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5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 3.2 — Quem Substituiu o 9? Análise por Posição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8503920" cy="530352"/>
          </a:xfrm>
          <a:prstGeom prst="rect">
            <a:avLst/>
          </a:prstGeom>
          <a:solidFill>
            <a:srgbClr val="EBF2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54864" cy="530352"/>
          </a:xfrm>
          <a:prstGeom prst="rect">
            <a:avLst/>
          </a:prstGeom>
          <a:solidFill>
            <a:srgbClr val="D94801"/>
          </a:solidFill>
          <a:ln w="12700">
            <a:solidFill>
              <a:srgbClr val="D948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75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85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Metodologia: 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jogador classificado em sua posição original (Defensor, Meio-Campista, Atacante). Volume normalizado por número de jogos e expresso como % do total de chutes da equipe.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" y="4224528"/>
            <a:ext cx="8503920" cy="594360"/>
          </a:xfrm>
          <a:prstGeom prst="rect">
            <a:avLst/>
          </a:prstGeom>
          <a:solidFill>
            <a:srgbClr val="EBF2FA"/>
          </a:solidFill>
          <a:ln w="12700">
            <a:solidFill>
              <a:srgbClr val="EBF2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4224528"/>
            <a:ext cx="54864" cy="594360"/>
          </a:xfrm>
          <a:prstGeom prst="rect">
            <a:avLst/>
          </a:prstGeom>
          <a:solidFill>
            <a:srgbClr val="D94801"/>
          </a:solidFill>
          <a:ln w="12700">
            <a:solidFill>
              <a:srgbClr val="D948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48056" y="4224528"/>
            <a:ext cx="8348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85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aumento proporcional do meio-campo nas finalizações confirma a transferência funcional prevista pelo falso 9. A função do centroavante foi absorvida pelos meias — não pelos atacantes remanescentes.</a:t>
            </a:r>
            <a:endParaRPr lang="en-US" sz="11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2F9DF52-5E29-C339-2B3F-17B5E981CE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6003" y="1485227"/>
            <a:ext cx="6371993" cy="271328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4801"/>
          </a:solidFill>
          <a:ln w="12700">
            <a:solidFill>
              <a:srgbClr val="D948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5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 4 — Concentração Ofensiva: Índice Herfindahl-Hirschman (HHI)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quantitativo para validar o coletivismo ofensivo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3931920" cy="352044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5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85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HHI = Σ sᵢ²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sᵢ = participação relativa do jogador i no total de chutes do jogo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788920"/>
            <a:ext cx="3657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5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DE INTERPRETAÇÃO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246120"/>
            <a:ext cx="1280160" cy="685800"/>
          </a:xfrm>
          <a:prstGeom prst="rect">
            <a:avLst/>
          </a:prstGeom>
          <a:solidFill>
            <a:srgbClr val="D94801"/>
          </a:solidFill>
          <a:ln w="12700">
            <a:solidFill>
              <a:srgbClr val="D948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324612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HHI → 1,0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28800" y="32461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único jogador faz todos os chutes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(concentração máxima)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069080"/>
            <a:ext cx="1280160" cy="6858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406908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HHI → 1/n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28800" y="40690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uniforme entre n jogadores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(máximo coletivismo)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4773168"/>
            <a:ext cx="8503920" cy="201168"/>
          </a:xfrm>
          <a:prstGeom prst="rect">
            <a:avLst/>
          </a:prstGeom>
          <a:solidFill>
            <a:srgbClr val="EBF2FA"/>
          </a:solidFill>
          <a:ln w="12700">
            <a:solidFill>
              <a:srgbClr val="EBF2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0040" y="4773168"/>
            <a:ext cx="54864" cy="201168"/>
          </a:xfrm>
          <a:prstGeom prst="rect">
            <a:avLst/>
          </a:prstGeom>
          <a:solidFill>
            <a:srgbClr val="D94801"/>
          </a:solidFill>
          <a:ln w="12700">
            <a:solidFill>
              <a:srgbClr val="D948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48056" y="4773168"/>
            <a:ext cx="8348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85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Hipótese: Se o falso 9 redistribuiu as finalizações, a Fase 3 deve apresentar HHI médio menor que a Fase 1.</a:t>
            </a:r>
            <a:endParaRPr lang="en-US" sz="115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D3AD4759-B6F0-B9AF-9621-6BE2134867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1313" y="674067"/>
            <a:ext cx="3066882" cy="202101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A2F1402-F5AA-C327-E731-BEB2BD709B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2" y="2759137"/>
            <a:ext cx="3317249" cy="199574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519C"/>
          </a:solidFill>
          <a:ln w="12700">
            <a:solidFill>
              <a:srgbClr val="0851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5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 5 — Estudo de Caso: İlkay Gündogan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um meia posicional se tornou artilheiro do título?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8503920" cy="685800"/>
          </a:xfrm>
          <a:prstGeom prst="rect">
            <a:avLst/>
          </a:prstGeom>
          <a:solidFill>
            <a:srgbClr val="05346A"/>
          </a:solidFill>
          <a:ln w="12700">
            <a:solidFill>
              <a:srgbClr val="053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024128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"Gündogan não se tornou um centroavante. Ele se tornou o ponto de chegada de um sistema que não precisava de centroavante."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874520"/>
            <a:ext cx="4114800" cy="137160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1874520"/>
            <a:ext cx="4114800" cy="54864"/>
          </a:xfrm>
          <a:prstGeom prst="rect">
            <a:avLst/>
          </a:prstGeom>
          <a:solidFill>
            <a:srgbClr val="D94801"/>
          </a:solidFill>
          <a:ln w="12700">
            <a:solidFill>
              <a:srgbClr val="D948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29768" y="196596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5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Chutes por Mês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9768" y="224028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Progressão crescente de set/2020 a mai/2021 — pico acentuado após jan/2021 com a consolidação do falso 9.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874520"/>
            <a:ext cx="4114800" cy="137160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63440" y="1874520"/>
            <a:ext cx="4114800" cy="54864"/>
          </a:xfrm>
          <a:prstGeom prst="rect">
            <a:avLst/>
          </a:prstGeom>
          <a:solidFill>
            <a:srgbClr val="D94801"/>
          </a:solidFill>
          <a:ln w="12700">
            <a:solidFill>
              <a:srgbClr val="D948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73168" y="196596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5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 vs. Gols por Mês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73168" y="224028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entre qualidade esperada (xG) e execução real — revela se foi overperformance pontual ou padrão sustentado.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3319272"/>
            <a:ext cx="4114800" cy="137160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0040" y="3319272"/>
            <a:ext cx="4114800" cy="54864"/>
          </a:xfrm>
          <a:prstGeom prst="rect">
            <a:avLst/>
          </a:prstGeom>
          <a:solidFill>
            <a:srgbClr val="08519C"/>
          </a:solidFill>
          <a:ln w="12700">
            <a:solidFill>
              <a:srgbClr val="D948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29768" y="341071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5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Localização dos Chutes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9768" y="3685032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3: chutes mais frequentemente dentro da área → mesmas zonas de alto xG ocupadas pelo centroavante tradicional.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3319272"/>
            <a:ext cx="4114800" cy="137160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663440" y="3319272"/>
            <a:ext cx="4114800" cy="54864"/>
          </a:xfrm>
          <a:prstGeom prst="rect">
            <a:avLst/>
          </a:prstGeom>
          <a:solidFill>
            <a:srgbClr val="08519C"/>
          </a:solidFill>
          <a:ln w="12700">
            <a:solidFill>
              <a:srgbClr val="D948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73168" y="341071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5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 Acumulado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73168" y="3685032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xG acumulado vs. gols marcados — área entre as curvas indica over/underperformance ao longo da temporada.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4773168"/>
            <a:ext cx="8503920" cy="228600"/>
          </a:xfrm>
          <a:prstGeom prst="rect">
            <a:avLst/>
          </a:prstGeom>
          <a:solidFill>
            <a:srgbClr val="EBF2FA"/>
          </a:solidFill>
          <a:ln w="12700">
            <a:solidFill>
              <a:srgbClr val="EBF2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20040" y="4773168"/>
            <a:ext cx="54864" cy="228600"/>
          </a:xfrm>
          <a:prstGeom prst="rect">
            <a:avLst/>
          </a:prstGeom>
          <a:solidFill>
            <a:srgbClr val="D94801"/>
          </a:solidFill>
          <a:ln w="12700">
            <a:solidFill>
              <a:srgbClr val="D948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48056" y="4773168"/>
            <a:ext cx="8348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85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investigativa: A explosão de Gündogan foi overperformance isolada ou evidência de uma mudança real no seu papel tático dentro do sistema?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B1414-0CC1-3D53-31F4-C8876D8A2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7DCC25F-8FFC-09FA-DB2A-5F046BFECCE2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519C"/>
          </a:solidFill>
          <a:ln w="12700">
            <a:solidFill>
              <a:srgbClr val="0851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65921EB-D9DD-1E36-32BD-BCFF75B32640}"/>
              </a:ext>
            </a:extLst>
          </p:cNvPr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5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 5 — Estudo de Caso: İlkay Gündogan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2438D37-2A60-23DF-D48D-834A218E9821}"/>
              </a:ext>
            </a:extLst>
          </p:cNvPr>
          <p:cNvSpPr/>
          <p:nvPr/>
        </p:nvSpPr>
        <p:spPr>
          <a:xfrm>
            <a:off x="411480" y="65836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um meia posicional se tornou artilheiro do título?</a:t>
            </a:r>
            <a:endParaRPr lang="en-US" sz="13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A1566310-DECD-FBEE-7280-0DD99234DE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8964" y="865642"/>
            <a:ext cx="6026072" cy="427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0073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4801"/>
          </a:solidFill>
          <a:ln w="12700">
            <a:solidFill>
              <a:srgbClr val="D948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5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 6 — Qualidade vs. Quantidade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criou chances melhores, ou apenas redistribuiu executores?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05840"/>
          <a:ext cx="8503920" cy="18288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Métrica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Fase 1 — Com Agüero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Fase 3 — Falso 9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Interpretação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xG médio por chute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[valor F1]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[valor F3]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Qualidade média das chances criadas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Taxa de conversão (%)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[valor F1]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[valor F3]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Eficiência de execução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% chutes dentro da área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[valor F1]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[valor F3]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Posicionamento espacial de qualidade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Gols / xG ratio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[valor F1]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[valor F3]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&gt; 1 = overperformance de execução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20040" y="1005840"/>
            <a:ext cx="8503920" cy="365760"/>
          </a:xfrm>
          <a:prstGeom prst="rect">
            <a:avLst/>
          </a:prstGeom>
          <a:solidFill>
            <a:srgbClr val="08519C"/>
          </a:solidFill>
          <a:ln w="12700">
            <a:solidFill>
              <a:srgbClr val="0851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11480" y="10058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971800" y="10058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— Com Agüero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709160" y="10058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— Falso 9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46520" y="1005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Interpretação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0040" y="4856840"/>
            <a:ext cx="8503920" cy="201168"/>
          </a:xfrm>
          <a:prstGeom prst="rect">
            <a:avLst/>
          </a:prstGeom>
          <a:solidFill>
            <a:srgbClr val="EBF2FA"/>
          </a:solidFill>
          <a:ln w="12700">
            <a:solidFill>
              <a:srgbClr val="EBF2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11"/>
          <p:cNvSpPr/>
          <p:nvPr/>
        </p:nvSpPr>
        <p:spPr>
          <a:xfrm>
            <a:off x="320040" y="4856840"/>
            <a:ext cx="54864" cy="201168"/>
          </a:xfrm>
          <a:prstGeom prst="rect">
            <a:avLst/>
          </a:prstGeom>
          <a:solidFill>
            <a:srgbClr val="D94801"/>
          </a:solidFill>
          <a:ln w="12700">
            <a:solidFill>
              <a:srgbClr val="D948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48056" y="4856840"/>
            <a:ext cx="8348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85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sistema de falso 9 manteve ou elevou o xG por chute → redistribuição foi aprimoramento tático. Se diminuiu → foi mera diluição dos executores.</a:t>
            </a:r>
            <a:endParaRPr lang="en-US" sz="11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F6E4024-7C1E-1DCA-E69B-F172EA10B9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5220" y="3000608"/>
            <a:ext cx="4963534" cy="16442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5346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4801"/>
          </a:solidFill>
          <a:ln w="12700">
            <a:solidFill>
              <a:srgbClr val="D948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 — A Zona como Centroavante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Evidências consolidadas da investigação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8503920" cy="576072"/>
          </a:xfrm>
          <a:prstGeom prst="rect">
            <a:avLst/>
          </a:prstGeom>
          <a:solidFill>
            <a:srgbClr val="0A3D6B"/>
          </a:solidFill>
          <a:ln w="12700">
            <a:solidFill>
              <a:srgbClr val="0A3D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005840"/>
            <a:ext cx="14173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48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920240" y="1005840"/>
            <a:ext cx="23774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KDE de zonas (Seções 1–2)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0" y="1005840"/>
            <a:ext cx="4343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Zonas de finalização estáveis entre Fase 1 e Fase 3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627632"/>
            <a:ext cx="8503920" cy="576072"/>
          </a:xfrm>
          <a:prstGeom prst="rect">
            <a:avLst/>
          </a:prstGeom>
          <a:solidFill>
            <a:srgbClr val="0D4A80"/>
          </a:solidFill>
          <a:ln w="12700">
            <a:solidFill>
              <a:srgbClr val="0D4A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1627632"/>
            <a:ext cx="14173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48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20240" y="1627632"/>
            <a:ext cx="23774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Chutes por jogador/jogo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89120" y="1627632"/>
            <a:ext cx="4343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Meias aumentaram; atacantes de ofício diminuíram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249424"/>
            <a:ext cx="8503920" cy="576072"/>
          </a:xfrm>
          <a:prstGeom prst="rect">
            <a:avLst/>
          </a:prstGeom>
          <a:solidFill>
            <a:srgbClr val="0A3D6B"/>
          </a:solidFill>
          <a:ln w="12700">
            <a:solidFill>
              <a:srgbClr val="0A3D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" y="2249424"/>
            <a:ext cx="14173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48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20240" y="2249424"/>
            <a:ext cx="23774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Finalização por posição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89120" y="2249424"/>
            <a:ext cx="4343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Meio-campo absorveu a função do centroavante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871216"/>
            <a:ext cx="8503920" cy="576072"/>
          </a:xfrm>
          <a:prstGeom prst="rect">
            <a:avLst/>
          </a:prstGeom>
          <a:solidFill>
            <a:srgbClr val="0D4A80"/>
          </a:solidFill>
          <a:ln w="12700">
            <a:solidFill>
              <a:srgbClr val="0D4A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11480" y="2871216"/>
            <a:ext cx="14173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48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Concentração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920240" y="2871216"/>
            <a:ext cx="23774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HHI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89120" y="2871216"/>
            <a:ext cx="4343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HHI menor na Fase 3 — maior coletivismo ofensivo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493008"/>
            <a:ext cx="8503920" cy="576072"/>
          </a:xfrm>
          <a:prstGeom prst="rect">
            <a:avLst/>
          </a:prstGeom>
          <a:solidFill>
            <a:srgbClr val="0A3D6B"/>
          </a:solidFill>
          <a:ln w="12700">
            <a:solidFill>
              <a:srgbClr val="0A3D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11480" y="3493008"/>
            <a:ext cx="14173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48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920240" y="3493008"/>
            <a:ext cx="23774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Gündogan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389120" y="3493008"/>
            <a:ext cx="4343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Meia tornou-se artilheiro atuando nas zonas do 9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4114800"/>
            <a:ext cx="8503920" cy="576072"/>
          </a:xfrm>
          <a:prstGeom prst="rect">
            <a:avLst/>
          </a:prstGeom>
          <a:solidFill>
            <a:srgbClr val="0D4A80"/>
          </a:solidFill>
          <a:ln w="12700">
            <a:solidFill>
              <a:srgbClr val="0D4A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11480" y="4114800"/>
            <a:ext cx="14173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48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920240" y="4114800"/>
            <a:ext cx="23774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 por chute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389120" y="4114800"/>
            <a:ext cx="4343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Manutenção ou elevação da qualidade das chances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5346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D94801"/>
          </a:solidFill>
          <a:ln w="12700">
            <a:solidFill>
              <a:srgbClr val="D948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48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Tese Central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868680"/>
            <a:ext cx="8001000" cy="1005840"/>
          </a:xfrm>
          <a:prstGeom prst="rect">
            <a:avLst/>
          </a:prstGeom>
          <a:solidFill>
            <a:srgbClr val="0A3D6B"/>
          </a:solidFill>
          <a:ln w="19050">
            <a:solidFill>
              <a:srgbClr val="D948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868680"/>
            <a:ext cx="7818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sistema de Guardiola, a zona exerce o papel do centroavante."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084832"/>
            <a:ext cx="384048" cy="384048"/>
          </a:xfrm>
          <a:prstGeom prst="ellipse">
            <a:avLst/>
          </a:prstGeom>
          <a:solidFill>
            <a:srgbClr val="D94801"/>
          </a:solidFill>
          <a:ln w="12700">
            <a:solidFill>
              <a:srgbClr val="D948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2011680"/>
            <a:ext cx="7498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48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 SCOUTING  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Jogadores como Gündogan — com posicionamento inteligente, chegada tardia e qualidade de finalização — são mais compatíveis com sistemas de falso 9 do que centroavantes tradicionais.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953512"/>
            <a:ext cx="384048" cy="384048"/>
          </a:xfrm>
          <a:prstGeom prst="ellipse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2953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2880360"/>
            <a:ext cx="7498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SISTÊMICAS  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'xG criado pelo sistema' é mais informativo do que 'xG individual do atacante' ao avaliar times de posse e posicionamento.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822192"/>
            <a:ext cx="384048" cy="38404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3822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3749040"/>
            <a:ext cx="7498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RESILIÊNCIA ESTRUTURAL  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gera a função do centroavante como propriedade emergente do coletivo — não como atribuição individual. Modelo estruturalmente mais resiliente a lesões e indisponibilidades.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461772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 futebol de posição de Guardiola é o mais próximo que o futebol chegou de uma coreografia coletiva consciente." — Spielverlagerung, 2014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519C"/>
          </a:solidFill>
          <a:ln w="12700">
            <a:solidFill>
              <a:srgbClr val="0851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5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 Metodológicas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8503920" cy="109728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54864" cy="1097280"/>
          </a:xfrm>
          <a:prstGeom prst="rect">
            <a:avLst/>
          </a:prstGeom>
          <a:solidFill>
            <a:srgbClr val="08519C"/>
          </a:solidFill>
          <a:ln w="12700">
            <a:solidFill>
              <a:srgbClr val="0851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5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Dados apenas de finalização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35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Understat fornece somente eventos de chute. Análises de posse, pressão, passes progressivos e controle territorial requerem fontes complementares como Statsbomb ou Wyscout.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2221992"/>
            <a:ext cx="8503920" cy="109728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2221992"/>
            <a:ext cx="54864" cy="1097280"/>
          </a:xfrm>
          <a:prstGeom prst="rect">
            <a:avLst/>
          </a:prstGeom>
          <a:solidFill>
            <a:srgbClr val="08519C"/>
          </a:solidFill>
          <a:ln w="12700">
            <a:solidFill>
              <a:srgbClr val="0851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3134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5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Ausência de controle por adversário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606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qualidade dos adversários varia significativamente entre as fases — times mais fracos podem inflar o xG e a taxa de conversão na Fase 3.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3392424"/>
            <a:ext cx="8503920" cy="109728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" y="3392424"/>
            <a:ext cx="54864" cy="1097280"/>
          </a:xfrm>
          <a:prstGeom prst="rect">
            <a:avLst/>
          </a:prstGeom>
          <a:solidFill>
            <a:srgbClr val="08519C"/>
          </a:solidFill>
          <a:ln w="12700">
            <a:solidFill>
              <a:srgbClr val="0851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348386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5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Causalidade vs. correlação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7764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dados mostram que as mudanças ocorreram após a lesão do Agüero, mas não isolam causalidade direta — calendário, forma individual, fatores externos (COVID) também influenciam.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8519C"/>
          </a:solidFill>
          <a:ln w="12700">
            <a:solidFill>
              <a:srgbClr val="0851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Dados: Understat via soccerdata (Python)  ·  Análise: Python (pandas, mplsoccer, seaborn, scipy)  ·  Premier League 2020/21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1660</Words>
  <Application>Microsoft Office PowerPoint</Application>
  <PresentationFormat>On-screen Show (16:9)</PresentationFormat>
  <Paragraphs>214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Metamorfose do Manchester City 2020/21</dc:title>
  <dc:subject>PptxGenJS Presentation</dc:subject>
  <dc:creator>PptxGenJS</dc:creator>
  <cp:lastModifiedBy>Carolina Abdu</cp:lastModifiedBy>
  <cp:revision>3</cp:revision>
  <dcterms:created xsi:type="dcterms:W3CDTF">2026-05-17T15:30:40Z</dcterms:created>
  <dcterms:modified xsi:type="dcterms:W3CDTF">2026-05-17T15:51:48Z</dcterms:modified>
</cp:coreProperties>
</file>