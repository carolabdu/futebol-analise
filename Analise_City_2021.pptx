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12C3841-F9EA-4654-9EE4-C1F8E4218B22}">
  <a:tblStyle styleId="{612C3841-F9EA-4654-9EE4-C1F8E4218B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" name="Google Shape;1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" name="Google Shape;3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" name="Google Shape;4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9" name="Google Shape;13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0" name="Google Shape;17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2" name="Google Shape;202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7" name="Google Shape;227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6" name="Google Shape;256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7" name="Google Shape;267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3" name="Google Shape;283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5" name="Google Shape;315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4" name="Google Shape;3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346A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731520" y="1188720"/>
            <a:ext cx="80467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Metamorfose do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Manchester City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731520" y="2880360"/>
            <a:ext cx="7498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700"/>
              <a:buFont typeface="Calibri"/>
              <a:buNone/>
            </a:pPr>
            <a:r>
              <a:rPr b="0" i="1" lang="en-US" sz="17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Como Pep Guardiola Reinventou o Ataque Sem um Centroavante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731520" y="44348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Premier League 2020/21  ·  Análise de Dados de Eventos (Understat)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Hipótese Central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411480" y="914400"/>
            <a:ext cx="8321040" cy="1691640"/>
          </a:xfrm>
          <a:prstGeom prst="rect">
            <a:avLst/>
          </a:prstGeom>
          <a:solidFill>
            <a:srgbClr val="05346A"/>
          </a:solidFill>
          <a:ln cap="flat" cmpd="sng" w="12700">
            <a:solidFill>
              <a:srgbClr val="053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94360" y="960120"/>
            <a:ext cx="7955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"Após a lesão de Sergio Agüero em 24 de outubro de 2020, o Manchester City não apenas adaptou seu sistema — ele o transformou estruturalmente, migrando de um modelo de finalização concentrada para um de dispersão coletiva."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411480" y="2788920"/>
            <a:ext cx="8321040" cy="141732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" y="2788920"/>
            <a:ext cx="73152" cy="141732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594360" y="2834640"/>
            <a:ext cx="7955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Pergunta guia: </a:t>
            </a:r>
            <a:r>
              <a:rPr b="0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"O papel do centroavante não foi eliminado, mas redistribuído: a </a:t>
            </a:r>
            <a:r>
              <a:rPr b="1" i="1" lang="en-US" sz="14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zona</a:t>
            </a:r>
            <a:r>
              <a:rPr b="0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passou a exercer a função que antes era </a:t>
            </a:r>
            <a:r>
              <a:rPr b="1" i="1" lang="en-US" sz="14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individual</a:t>
            </a:r>
            <a:r>
              <a:rPr b="0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."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O Contexto da Análise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411475" y="822900"/>
            <a:ext cx="3807900" cy="23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Início irregular do City em 2020/21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Esperado favorito ao título, a equipe oscilou nas primeiras rodadas sem consistência ofensiva.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Lesão do único centroavante de referência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Sergio Agüero lesionou-se em 24/out/2020, deixando o time sem um 9 tradicional.</a:t>
            </a:r>
            <a:b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15 vitórias consecutivas a partir de janeiro 2021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Em vez de enfraquecer o time, a ausência de Agüero acelerou uma transformação sistêmica que culminou no título da Premier League.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2185050" y="3568200"/>
            <a:ext cx="4372800" cy="1575300"/>
          </a:xfrm>
          <a:prstGeom prst="rect">
            <a:avLst/>
          </a:prstGeom>
          <a:solidFill>
            <a:srgbClr val="EBF2FA"/>
          </a:solidFill>
          <a:ln cap="flat" cmpd="sng" w="115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1450" lIns="82925" spcFirstLastPara="1" rIns="82925" wrap="square" tIns="414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2"/>
              <a:buFont typeface="Arial"/>
              <a:buNone/>
            </a:pPr>
            <a:r>
              <a:t/>
            </a:r>
            <a:endParaRPr b="0" i="0" sz="16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2185050" y="3247350"/>
            <a:ext cx="4372800" cy="315300"/>
          </a:xfrm>
          <a:prstGeom prst="rect">
            <a:avLst/>
          </a:prstGeom>
          <a:solidFill>
            <a:srgbClr val="08519C"/>
          </a:solidFill>
          <a:ln cap="flat" cmpd="sng" w="115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1450" lIns="82925" spcFirstLastPara="1" rIns="82925" wrap="square" tIns="414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32"/>
              <a:buFont typeface="Arial"/>
              <a:buNone/>
            </a:pPr>
            <a:r>
              <a:t/>
            </a:r>
            <a:endParaRPr b="0" i="0" sz="16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2185050" y="3247350"/>
            <a:ext cx="4372800" cy="31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98"/>
              <a:buFont typeface="Calibri"/>
              <a:buNone/>
            </a:pPr>
            <a:r>
              <a:rPr b="1" i="0" lang="en-US" sz="998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DADOS</a:t>
            </a: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2314100" y="3673800"/>
            <a:ext cx="4300200" cy="13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1450" lIns="82925" spcFirstLastPara="1" rIns="82925" wrap="square" tIns="414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998"/>
              <a:buFont typeface="Calibri"/>
              <a:buNone/>
            </a:pPr>
            <a:r>
              <a:rPr b="1" i="0" lang="en-US" sz="998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Fonte:			            Chutes analisados:</a:t>
            </a:r>
            <a:br>
              <a:rPr b="1" i="0" lang="en-US" sz="998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98"/>
              <a:buFont typeface="Calibri"/>
              <a:buNone/>
            </a:pPr>
            <a:r>
              <a:rPr b="0" i="0" lang="en-US" sz="998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Understat via soccerdata	            601 eventos do Manchester City</a:t>
            </a:r>
            <a:br>
              <a:rPr b="0" i="0" lang="en-US" sz="998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998"/>
              <a:buFont typeface="Calibri"/>
              <a:buNone/>
            </a:pPr>
            <a:r>
              <a:rPr b="1" i="0" lang="en-US" sz="998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Competição:		            Dados por chute:</a:t>
            </a:r>
            <a:br>
              <a:rPr b="1" i="0" lang="en-US" sz="998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98"/>
              <a:buFont typeface="Calibri"/>
              <a:buNone/>
            </a:pPr>
            <a:r>
              <a:rPr b="0" i="0" lang="en-US" sz="998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Premier League 2020/21	            Coordenadas XY, xG,</a:t>
            </a:r>
            <a:r>
              <a:rPr b="0" i="0" lang="en-US" sz="9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</a:t>
            </a:r>
            <a:r>
              <a:rPr b="0" i="0" lang="en-US" sz="998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esultado, jogador, data</a:t>
            </a:r>
            <a:br>
              <a:rPr b="0" i="0" lang="en-US" sz="998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81900" y="551369"/>
            <a:ext cx="3807901" cy="2538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Estrutura da Investigação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/>
          <p:nvPr/>
        </p:nvSpPr>
        <p:spPr>
          <a:xfrm>
            <a:off x="320040" y="960120"/>
            <a:ext cx="8503920" cy="621792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F5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365760" y="1051560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365760" y="10515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886968" y="10058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Periodização Tática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6"/>
          <p:cNvSpPr/>
          <p:nvPr/>
        </p:nvSpPr>
        <p:spPr>
          <a:xfrm>
            <a:off x="886968" y="1261872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Quando exatamente ocorreu a transição sistêmica?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320040" y="1627632"/>
            <a:ext cx="850392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365760" y="1719072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365760" y="17190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886968" y="16733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Estabilidade Espacial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886968" y="1929384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As zonas de chute realmente permaneceram estáveis?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320040" y="2295144"/>
            <a:ext cx="8503920" cy="621792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F5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365760" y="2386584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365760" y="238658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6"/>
          <p:cNvSpPr/>
          <p:nvPr/>
        </p:nvSpPr>
        <p:spPr>
          <a:xfrm>
            <a:off x="886968" y="234086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Redistribuição dos Finalizadores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886968" y="2596896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Quem passou a finalizar mais — e por quê?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320040" y="2962656"/>
            <a:ext cx="850392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365760" y="3054096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365760" y="30540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886968" y="300837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Índice HHI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886968" y="3264408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ficou objetivamente menos concentrado?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320040" y="3630168"/>
            <a:ext cx="8503920" cy="621792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F5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365760" y="3721608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6"/>
          <p:cNvSpPr/>
          <p:nvPr/>
        </p:nvSpPr>
        <p:spPr>
          <a:xfrm>
            <a:off x="365760" y="372160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886968" y="367588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Estudo de Caso: Gündogan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886968" y="3931920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Como um meia se tornou artilheiro do título?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6"/>
          <p:cNvSpPr/>
          <p:nvPr/>
        </p:nvSpPr>
        <p:spPr>
          <a:xfrm>
            <a:off x="320040" y="4297680"/>
            <a:ext cx="850392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/>
          <p:nvPr/>
        </p:nvSpPr>
        <p:spPr>
          <a:xfrm>
            <a:off x="365760" y="4389120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365760" y="43891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886968" y="43434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Qualidade vs. Quantidade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886968" y="4599432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criou chances melhores ou apenas redistribuiu?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1 — Periodização Tática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7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Quando ocorreu a transição sistêmica?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7"/>
          <p:cNvSpPr/>
          <p:nvPr/>
        </p:nvSpPr>
        <p:spPr>
          <a:xfrm>
            <a:off x="320040" y="1188720"/>
            <a:ext cx="2697480" cy="29260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320040" y="1188720"/>
            <a:ext cx="2697480" cy="4572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320040" y="1188720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 · Pré-Lesão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429768" y="173736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Período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429768" y="19202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21/set → 24/out 2020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7"/>
          <p:cNvSpPr/>
          <p:nvPr/>
        </p:nvSpPr>
        <p:spPr>
          <a:xfrm>
            <a:off x="429768" y="23042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7"/>
          <p:cNvSpPr/>
          <p:nvPr/>
        </p:nvSpPr>
        <p:spPr>
          <a:xfrm>
            <a:off x="429768" y="24871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429768" y="287121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Jogos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429768" y="3054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29768" y="343814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/ Jogo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429768" y="362102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16,5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3200400" y="1188720"/>
            <a:ext cx="2697480" cy="2926080"/>
          </a:xfrm>
          <a:prstGeom prst="rect">
            <a:avLst/>
          </a:prstGeom>
          <a:solidFill>
            <a:srgbClr val="EFF6FF"/>
          </a:solidFill>
          <a:ln cap="flat" cmpd="sng" w="12700">
            <a:solidFill>
              <a:srgbClr val="EFF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3200400" y="1188720"/>
            <a:ext cx="2697480" cy="457200"/>
          </a:xfrm>
          <a:prstGeom prst="rect">
            <a:avLst/>
          </a:prstGeom>
          <a:solidFill>
            <a:srgbClr val="94A3B8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200400" y="1188720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2 · Transição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310128" y="173736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Período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3310128" y="19202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25/out/2020 → 02/jan/2021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3310128" y="23042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3310128" y="24871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152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3310128" y="287121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Jogos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3310128" y="3054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3310128" y="343814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/ Jogo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3310128" y="362102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15,2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6080760" y="1188720"/>
            <a:ext cx="2697480" cy="2926080"/>
          </a:xfrm>
          <a:prstGeom prst="rect">
            <a:avLst/>
          </a:prstGeom>
          <a:solidFill>
            <a:srgbClr val="EFF6FF"/>
          </a:solidFill>
          <a:ln cap="flat" cmpd="sng" w="12700">
            <a:solidFill>
              <a:srgbClr val="EFF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6080760" y="1188720"/>
            <a:ext cx="2697480" cy="45720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6080760" y="1188720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3 · Consolidação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6190488" y="173736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Período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6190488" y="19202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03/jan → 23/mai 2021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6190488" y="23042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6190488" y="24871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383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6190488" y="287121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Jogos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6190488" y="3054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6190488" y="343814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/ Jogo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6190488" y="362102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16,0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320040" y="4297680"/>
            <a:ext cx="8503920" cy="5486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320040" y="4297680"/>
            <a:ext cx="54864" cy="5486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448056" y="4297680"/>
            <a:ext cx="8348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O volume de chutes por jogo permaneceu praticamente estável entre as fases — o que mudou foi a composição dos executores.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1 — Mapa de Chutes por Fase (Time Completo)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/>
          <p:nvPr/>
        </p:nvSpPr>
        <p:spPr>
          <a:xfrm>
            <a:off x="320040" y="1005840"/>
            <a:ext cx="8503920" cy="3063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📊 Inserir gráfico: Scatter plot — Fase 1 (cores por jogador, laranja) vs Fase 3 (azul)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★ Estrelas douradas = gols | Cinza = outros jogadores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320040" y="4251960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594360" y="420624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Fase 1 — Com Agüero: chutes concentrados no lado direito, atacantes de ofício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320040" y="4562856"/>
            <a:ext cx="201168" cy="201168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594360" y="451713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Fase 3 — Falso 9: meias e pontas construtivos (Gündogan, Foden, De Bruyne) figuram entre os principais finalizadores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320040" y="4873752"/>
            <a:ext cx="201168" cy="201168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594360" y="482803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Círculos Amarelos = gols marcados em cada fase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41685" y="758952"/>
            <a:ext cx="5900688" cy="34168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2 — O Paradoxo da Estabilidade Espacial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Por que as zonas de finalização permaneceram estáveis mesmo sem um centroavante?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/>
          <p:nvPr/>
        </p:nvSpPr>
        <p:spPr>
          <a:xfrm>
            <a:off x="320040" y="1097280"/>
            <a:ext cx="4069080" cy="356616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9"/>
          <p:cNvSpPr/>
          <p:nvPr/>
        </p:nvSpPr>
        <p:spPr>
          <a:xfrm>
            <a:off x="320040" y="1097280"/>
            <a:ext cx="4069080" cy="384048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/>
          <p:nvPr/>
        </p:nvSpPr>
        <p:spPr>
          <a:xfrm>
            <a:off x="320040" y="1097280"/>
            <a:ext cx="4069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TEORIA DO JOGO DE POSIÇÃO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/>
          <p:nvPr/>
        </p:nvSpPr>
        <p:spPr>
          <a:xfrm>
            <a:off x="457200" y="1554480"/>
            <a:ext cx="37947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 sistema de Guardiola, o campo é concebido como </a:t>
            </a:r>
            <a:r>
              <a:rPr b="1" i="0" lang="en-US" sz="12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zonas com funções pré-definidas.</a:t>
            </a: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O objetivo coletivo é fazer a bola chegar às </a:t>
            </a:r>
            <a:r>
              <a:rPr b="1" i="0" lang="en-US" sz="125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zonas de alto xG</a:t>
            </a: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por circulação organizada — não por genialidade individual.</a:t>
            </a:r>
            <a:b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→  Resultado: </a:t>
            </a:r>
            <a:r>
              <a:rPr b="0" i="0" lang="en-US" sz="12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"demanda" a ocupação das mesmas zonas, independentemente do jogador.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/>
          <p:nvPr/>
        </p:nvSpPr>
        <p:spPr>
          <a:xfrm>
            <a:off x="4754880" y="1097280"/>
            <a:ext cx="4069080" cy="3566160"/>
          </a:xfrm>
          <a:prstGeom prst="rect">
            <a:avLst/>
          </a:prstGeom>
          <a:solidFill>
            <a:srgbClr val="FFFBEB"/>
          </a:solidFill>
          <a:ln cap="flat" cmpd="sng" w="12700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9"/>
          <p:cNvSpPr/>
          <p:nvPr/>
        </p:nvSpPr>
        <p:spPr>
          <a:xfrm>
            <a:off x="4754880" y="1097280"/>
            <a:ext cx="4069080" cy="384048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9"/>
          <p:cNvSpPr/>
          <p:nvPr/>
        </p:nvSpPr>
        <p:spPr>
          <a:xfrm>
            <a:off x="4754880" y="1097280"/>
            <a:ext cx="4069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PREDIÇÕES DA HIPÓTESE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/>
          <p:nvPr/>
        </p:nvSpPr>
        <p:spPr>
          <a:xfrm>
            <a:off x="4892040" y="1554480"/>
            <a:ext cx="37947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 a hipótese do falso 9 for verdadeira:</a:t>
            </a:r>
            <a:br>
              <a:rPr b="0" i="1" lang="en-US" sz="12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1" lang="en-US" sz="12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Zonas de finalização estáveis entre Fase 1 e Fase 3</a:t>
            </a:r>
            <a:b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Maior diversidade de finalizadores na Fase 3</a:t>
            </a:r>
            <a:b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2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Meias e pontas construtivos entre os principais finalizadores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2 — Zonas de Finalização: Densidade por Fase (KDE)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/>
          <p:nvPr/>
        </p:nvSpPr>
        <p:spPr>
          <a:xfrm>
            <a:off x="320040" y="960120"/>
            <a:ext cx="850392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📊 Inserir gráfico: KDE heatmap lado a lado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Fase 1 (laranja, com Agüero) · Fase 3 (azul, falso 9 consolidado)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★ Estrelas douradas = gols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/>
          <p:nvPr/>
        </p:nvSpPr>
        <p:spPr>
          <a:xfrm>
            <a:off x="320040" y="3840480"/>
            <a:ext cx="347472" cy="34747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320040" y="38404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0"/>
          <p:cNvSpPr/>
          <p:nvPr/>
        </p:nvSpPr>
        <p:spPr>
          <a:xfrm>
            <a:off x="758952" y="3822192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POSICIONAMENTO LATERAL 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Fase 1 (laranja): núcleo deslocado para o lado direito da área — posicionamento preferencial de Agüero. Fase 3 (azul): chutes distribuídos simetricamente por toda a largura da área.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/>
          <p:nvPr/>
        </p:nvSpPr>
        <p:spPr>
          <a:xfrm>
            <a:off x="320040" y="4434840"/>
            <a:ext cx="347472" cy="34747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0"/>
          <p:cNvSpPr/>
          <p:nvPr/>
        </p:nvSpPr>
        <p:spPr>
          <a:xfrm>
            <a:off x="320040" y="44348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0"/>
          <p:cNvSpPr/>
          <p:nvPr/>
        </p:nvSpPr>
        <p:spPr>
          <a:xfrm>
            <a:off x="758952" y="4416552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PROFUNDIDADE DE FINALIZAÇÃO 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Falso 9 gerou menos chutes a partir da entrada da área (meia-lua). Com múltiplos jogadores chegando de ângulos distintos, as finalizações ocorrem dentro da grande área, mas dispersas lateralmente.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61356" y="757091"/>
            <a:ext cx="5130163" cy="3065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1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3.1 — Redistribuição dos Finalizadores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1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por jogo antes (Fase 1) e depois (Fase 3) da lesão do Agüero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1"/>
          <p:cNvSpPr/>
          <p:nvPr/>
        </p:nvSpPr>
        <p:spPr>
          <a:xfrm>
            <a:off x="6446520" y="1005840"/>
            <a:ext cx="2377440" cy="10058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1"/>
          <p:cNvSpPr/>
          <p:nvPr/>
        </p:nvSpPr>
        <p:spPr>
          <a:xfrm>
            <a:off x="6446520" y="1005840"/>
            <a:ext cx="54864" cy="10058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6574536" y="1005840"/>
            <a:ext cx="222199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🔵  Gündogan tornou-se o maior artilheiro do City na 2ª metade da temporada — de meia posicional a finalizador de área.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1"/>
          <p:cNvSpPr/>
          <p:nvPr/>
        </p:nvSpPr>
        <p:spPr>
          <a:xfrm>
            <a:off x="6446520" y="2103120"/>
            <a:ext cx="2377440" cy="10058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1"/>
          <p:cNvSpPr/>
          <p:nvPr/>
        </p:nvSpPr>
        <p:spPr>
          <a:xfrm>
            <a:off x="6446520" y="2103120"/>
            <a:ext cx="54864" cy="10058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6574536" y="2103120"/>
            <a:ext cx="222199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🟠  Foden e Bernardo Silva aumentaram expressivamente suas participações ofensivas.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1"/>
          <p:cNvSpPr/>
          <p:nvPr/>
        </p:nvSpPr>
        <p:spPr>
          <a:xfrm>
            <a:off x="6446520" y="3200400"/>
            <a:ext cx="2377440" cy="10058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1"/>
          <p:cNvSpPr/>
          <p:nvPr/>
        </p:nvSpPr>
        <p:spPr>
          <a:xfrm>
            <a:off x="6446520" y="3200400"/>
            <a:ext cx="54864" cy="10058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1"/>
          <p:cNvSpPr/>
          <p:nvPr/>
        </p:nvSpPr>
        <p:spPr>
          <a:xfrm>
            <a:off x="6574536" y="3200400"/>
            <a:ext cx="222199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⚽  O sistema distribuiu a 'função do 9' coletivamente — sem dependência de um único executante.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" y="1078668"/>
            <a:ext cx="5825634" cy="36713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3.2 — Quem Substituiu o 9? Análise por Posição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2"/>
          <p:cNvSpPr/>
          <p:nvPr/>
        </p:nvSpPr>
        <p:spPr>
          <a:xfrm>
            <a:off x="320040" y="868680"/>
            <a:ext cx="8503920" cy="530352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2"/>
          <p:cNvSpPr/>
          <p:nvPr/>
        </p:nvSpPr>
        <p:spPr>
          <a:xfrm>
            <a:off x="320040" y="868680"/>
            <a:ext cx="54864" cy="5303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/>
          <p:nvPr/>
        </p:nvSpPr>
        <p:spPr>
          <a:xfrm>
            <a:off x="457200" y="868680"/>
            <a:ext cx="82753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Metodologia: 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Cada jogador classificado em sua posição original (Defensor, Meio-Campista, Atacante). Volume normalizado por número de jogos e expresso como % do total de chutes da equipe.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2"/>
          <p:cNvSpPr/>
          <p:nvPr/>
        </p:nvSpPr>
        <p:spPr>
          <a:xfrm>
            <a:off x="320040" y="4224528"/>
            <a:ext cx="8503920" cy="59436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2"/>
          <p:cNvSpPr/>
          <p:nvPr/>
        </p:nvSpPr>
        <p:spPr>
          <a:xfrm>
            <a:off x="320040" y="4224528"/>
            <a:ext cx="54864" cy="59436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2"/>
          <p:cNvSpPr/>
          <p:nvPr/>
        </p:nvSpPr>
        <p:spPr>
          <a:xfrm>
            <a:off x="448056" y="4224528"/>
            <a:ext cx="8348472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O aumento proporcional do meio-campo nas finalizações confirma a transferência funcional prevista pelo falso 9. A função do centroavante foi absorvida pelos meias — não pelos atacantes remanescentes.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86003" y="1485227"/>
            <a:ext cx="6371993" cy="27132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3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4 — Concentração Ofensiva: Índice Herfindahl-Hirschman (HHI)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3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Critério quantitativo para validar o coletivismo ofensivo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3"/>
          <p:cNvSpPr/>
          <p:nvPr/>
        </p:nvSpPr>
        <p:spPr>
          <a:xfrm>
            <a:off x="320040" y="1143000"/>
            <a:ext cx="3931920" cy="352044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3"/>
          <p:cNvSpPr/>
          <p:nvPr/>
        </p:nvSpPr>
        <p:spPr>
          <a:xfrm>
            <a:off x="45720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FÓRMULA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3"/>
          <p:cNvSpPr/>
          <p:nvPr/>
        </p:nvSpPr>
        <p:spPr>
          <a:xfrm>
            <a:off x="457200" y="1600200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HHI = Σ sᵢ²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3"/>
          <p:cNvSpPr/>
          <p:nvPr/>
        </p:nvSpPr>
        <p:spPr>
          <a:xfrm>
            <a:off x="457200" y="22402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onde sᵢ = participação relativa do jogador i no total de chutes do jogo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2" name="Google Shape;212;p13"/>
          <p:cNvCxnSpPr/>
          <p:nvPr/>
        </p:nvCxnSpPr>
        <p:spPr>
          <a:xfrm>
            <a:off x="457200" y="2788920"/>
            <a:ext cx="3657600" cy="0"/>
          </a:xfrm>
          <a:prstGeom prst="straightConnector1">
            <a:avLst/>
          </a:prstGeom>
          <a:noFill/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" name="Google Shape;213;p13"/>
          <p:cNvSpPr/>
          <p:nvPr/>
        </p:nvSpPr>
        <p:spPr>
          <a:xfrm>
            <a:off x="457200" y="28803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ESCALA DE INTERPRETAÇÃO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3"/>
          <p:cNvSpPr/>
          <p:nvPr/>
        </p:nvSpPr>
        <p:spPr>
          <a:xfrm>
            <a:off x="457200" y="3246120"/>
            <a:ext cx="1280160" cy="6858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3"/>
          <p:cNvSpPr/>
          <p:nvPr/>
        </p:nvSpPr>
        <p:spPr>
          <a:xfrm>
            <a:off x="457200" y="3246120"/>
            <a:ext cx="1280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HHI → 1,0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3"/>
          <p:cNvSpPr/>
          <p:nvPr/>
        </p:nvSpPr>
        <p:spPr>
          <a:xfrm>
            <a:off x="1828800" y="324612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Um único jogador faz todos os chutes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(concentração máxima)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457200" y="4069080"/>
            <a:ext cx="1280160" cy="685800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457200" y="4069080"/>
            <a:ext cx="1280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HHI → 1/n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3"/>
          <p:cNvSpPr/>
          <p:nvPr/>
        </p:nvSpPr>
        <p:spPr>
          <a:xfrm>
            <a:off x="1828800" y="406908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Distribuição uniforme entre n jogadores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(máximo coletivismo)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3"/>
          <p:cNvSpPr/>
          <p:nvPr/>
        </p:nvSpPr>
        <p:spPr>
          <a:xfrm>
            <a:off x="320040" y="4773168"/>
            <a:ext cx="8503920" cy="201168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3"/>
          <p:cNvSpPr/>
          <p:nvPr/>
        </p:nvSpPr>
        <p:spPr>
          <a:xfrm>
            <a:off x="320040" y="4773168"/>
            <a:ext cx="54864" cy="201168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3"/>
          <p:cNvSpPr/>
          <p:nvPr/>
        </p:nvSpPr>
        <p:spPr>
          <a:xfrm>
            <a:off x="448056" y="4773168"/>
            <a:ext cx="83484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Hipótese: Se o falso 9 redistribuiu as finalizações, a Fase 3 deve apresentar HHI médio menor que a Fase 1.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3" name="Google Shape;22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81313" y="674067"/>
            <a:ext cx="3066882" cy="2021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92042" y="2759137"/>
            <a:ext cx="3317249" cy="19957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4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5 — Estudo de Caso: İlkay Gündogan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Como um meia posicional se tornou artilheiro do título?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/>
          <p:nvPr/>
        </p:nvSpPr>
        <p:spPr>
          <a:xfrm>
            <a:off x="320040" y="1024128"/>
            <a:ext cx="8503920" cy="685800"/>
          </a:xfrm>
          <a:prstGeom prst="rect">
            <a:avLst/>
          </a:prstGeom>
          <a:solidFill>
            <a:srgbClr val="05346A"/>
          </a:solidFill>
          <a:ln cap="flat" cmpd="sng" w="12700">
            <a:solidFill>
              <a:srgbClr val="053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502920" y="1024128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"Gündogan não se tornou um centroavante. Ele se tornou o ponto de chegada de um sistema que não precisava de centroavante."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320040" y="1874520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4"/>
          <p:cNvSpPr/>
          <p:nvPr/>
        </p:nvSpPr>
        <p:spPr>
          <a:xfrm>
            <a:off x="320040" y="1874520"/>
            <a:ext cx="4114800" cy="54864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4"/>
          <p:cNvSpPr/>
          <p:nvPr/>
        </p:nvSpPr>
        <p:spPr>
          <a:xfrm>
            <a:off x="429768" y="1965960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Chutes por Mês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4"/>
          <p:cNvSpPr/>
          <p:nvPr/>
        </p:nvSpPr>
        <p:spPr>
          <a:xfrm>
            <a:off x="429768" y="2240280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Progressão crescente de set/2020 a mai/2021 — pico acentuado após jan/2021 com a consolidação do falso 9.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4"/>
          <p:cNvSpPr/>
          <p:nvPr/>
        </p:nvSpPr>
        <p:spPr>
          <a:xfrm>
            <a:off x="4663440" y="1874520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/>
          <p:nvPr/>
        </p:nvSpPr>
        <p:spPr>
          <a:xfrm>
            <a:off x="4663440" y="1874520"/>
            <a:ext cx="4114800" cy="54864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4"/>
          <p:cNvSpPr/>
          <p:nvPr/>
        </p:nvSpPr>
        <p:spPr>
          <a:xfrm>
            <a:off x="4773168" y="1965960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xG vs. Gols por Mês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4"/>
          <p:cNvSpPr/>
          <p:nvPr/>
        </p:nvSpPr>
        <p:spPr>
          <a:xfrm>
            <a:off x="4773168" y="2240280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Comparação entre qualidade esperada (xG) e execução real — revela se foi overperformance pontual ou padrão sustentado.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4"/>
          <p:cNvSpPr/>
          <p:nvPr/>
        </p:nvSpPr>
        <p:spPr>
          <a:xfrm>
            <a:off x="320040" y="3319272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4"/>
          <p:cNvSpPr/>
          <p:nvPr/>
        </p:nvSpPr>
        <p:spPr>
          <a:xfrm>
            <a:off x="320040" y="3319272"/>
            <a:ext cx="4114800" cy="54864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4"/>
          <p:cNvSpPr/>
          <p:nvPr/>
        </p:nvSpPr>
        <p:spPr>
          <a:xfrm>
            <a:off x="429768" y="3410712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Localização dos Chutes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4"/>
          <p:cNvSpPr/>
          <p:nvPr/>
        </p:nvSpPr>
        <p:spPr>
          <a:xfrm>
            <a:off x="429768" y="3685032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Fase 3: chutes mais frequentemente dentro da área → mesmas zonas de alto xG ocupadas pelo centroavante tradicional.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4"/>
          <p:cNvSpPr/>
          <p:nvPr/>
        </p:nvSpPr>
        <p:spPr>
          <a:xfrm>
            <a:off x="4663440" y="3319272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4"/>
          <p:cNvSpPr/>
          <p:nvPr/>
        </p:nvSpPr>
        <p:spPr>
          <a:xfrm>
            <a:off x="4663440" y="3319272"/>
            <a:ext cx="4114800" cy="54864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4"/>
          <p:cNvSpPr/>
          <p:nvPr/>
        </p:nvSpPr>
        <p:spPr>
          <a:xfrm>
            <a:off x="4773168" y="3410712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xG Acumulado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4"/>
          <p:cNvSpPr/>
          <p:nvPr/>
        </p:nvSpPr>
        <p:spPr>
          <a:xfrm>
            <a:off x="4773168" y="3685032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Curva xG acumulado vs. gols marcados — área entre as curvas indica over/underperformance ao longo da temporada.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4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4"/>
          <p:cNvSpPr/>
          <p:nvPr/>
        </p:nvSpPr>
        <p:spPr>
          <a:xfrm>
            <a:off x="320040" y="4773168"/>
            <a:ext cx="54864" cy="2286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4"/>
          <p:cNvSpPr/>
          <p:nvPr/>
        </p:nvSpPr>
        <p:spPr>
          <a:xfrm>
            <a:off x="448056" y="4773168"/>
            <a:ext cx="83484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Pergunta investigativa: A explosão de Gündogan foi overperformance isolada ou evidência de uma mudança real no seu papel tático dentro do sistema?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5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5 — Estudo de Caso: İlkay Gündogan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5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Como um meia posicional se tornou artilheiro do título?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58964" y="865642"/>
            <a:ext cx="6026072" cy="4277857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15"/>
          <p:cNvSpPr/>
          <p:nvPr/>
        </p:nvSpPr>
        <p:spPr>
          <a:xfrm>
            <a:off x="4629150" y="1044775"/>
            <a:ext cx="3005700" cy="20091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4" name="Google Shape;26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29150" y="1165325"/>
            <a:ext cx="3602274" cy="188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6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6 — Qualidade vs. Quantidade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6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criou chances melhores, ou apenas redistribuiu executores?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3" name="Google Shape;273;p16"/>
          <p:cNvGraphicFramePr/>
          <p:nvPr/>
        </p:nvGraphicFramePr>
        <p:xfrm>
          <a:off x="320040" y="10058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{612C3841-F9EA-4654-9EE4-C1F8E4218B22}</a:tableStyleId>
              </a:tblPr>
              <a:tblGrid>
                <a:gridCol w="2560325"/>
                <a:gridCol w="1645925"/>
                <a:gridCol w="1645925"/>
                <a:gridCol w="26517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Métrica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Fase 1 — Com Agüero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Fase 3 — Falso 9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Interpretação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xG médio por chute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/>
                        <a:t>0.098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/>
                        <a:t>0.138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Qualidade média das chances criadas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Taxa de conversão (%)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/>
                        <a:t>10.606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/>
                        <a:t>15.927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Eficiência de execução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% chutes dentro da área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/>
                        <a:t>48.485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/>
                        <a:t>61.880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Posicionamento espacial de qualidade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Gols / xG ratio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/>
                        <a:t>1.080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/>
                        <a:t>1.156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&gt; 1 = overperformance de execução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74" name="Google Shape;274;p16"/>
          <p:cNvSpPr/>
          <p:nvPr/>
        </p:nvSpPr>
        <p:spPr>
          <a:xfrm>
            <a:off x="320040" y="1005840"/>
            <a:ext cx="8503920" cy="36576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6"/>
          <p:cNvSpPr/>
          <p:nvPr/>
        </p:nvSpPr>
        <p:spPr>
          <a:xfrm>
            <a:off x="411480" y="100584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Métrica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6"/>
          <p:cNvSpPr/>
          <p:nvPr/>
        </p:nvSpPr>
        <p:spPr>
          <a:xfrm>
            <a:off x="2971800" y="10058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 — Com Agüero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6"/>
          <p:cNvSpPr/>
          <p:nvPr/>
        </p:nvSpPr>
        <p:spPr>
          <a:xfrm>
            <a:off x="4709160" y="10058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3 — Falso 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6"/>
          <p:cNvSpPr/>
          <p:nvPr/>
        </p:nvSpPr>
        <p:spPr>
          <a:xfrm>
            <a:off x="6446520" y="10058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Interpretação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6"/>
          <p:cNvSpPr/>
          <p:nvPr/>
        </p:nvSpPr>
        <p:spPr>
          <a:xfrm flipH="1" rot="10800000">
            <a:off x="448050" y="5057958"/>
            <a:ext cx="8418600" cy="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0" name="Google Shape;28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6500" y="3108950"/>
            <a:ext cx="6141723" cy="203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346A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Conclusão — A Zona como Centroavante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7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Evidências consolidadas da investigação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7"/>
          <p:cNvSpPr/>
          <p:nvPr/>
        </p:nvSpPr>
        <p:spPr>
          <a:xfrm>
            <a:off x="320040" y="1005840"/>
            <a:ext cx="8503920" cy="576072"/>
          </a:xfrm>
          <a:prstGeom prst="rect">
            <a:avLst/>
          </a:prstGeom>
          <a:solidFill>
            <a:srgbClr val="0A3D6B"/>
          </a:solidFill>
          <a:ln cap="flat" cmpd="sng" w="12700">
            <a:solidFill>
              <a:srgbClr val="0A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7"/>
          <p:cNvSpPr/>
          <p:nvPr/>
        </p:nvSpPr>
        <p:spPr>
          <a:xfrm>
            <a:off x="411480" y="1005840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Espacial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7"/>
          <p:cNvSpPr/>
          <p:nvPr/>
        </p:nvSpPr>
        <p:spPr>
          <a:xfrm>
            <a:off x="1920240" y="1005840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KDE de zonas (Seções 1–2)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4389120" y="1005840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Zonas de finalização estáveis entre Fase 1 e Fase 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7"/>
          <p:cNvSpPr/>
          <p:nvPr/>
        </p:nvSpPr>
        <p:spPr>
          <a:xfrm>
            <a:off x="320040" y="1627632"/>
            <a:ext cx="8503920" cy="576072"/>
          </a:xfrm>
          <a:prstGeom prst="rect">
            <a:avLst/>
          </a:prstGeom>
          <a:solidFill>
            <a:srgbClr val="0D4A80"/>
          </a:solidFill>
          <a:ln cap="flat" cmpd="sng" w="12700">
            <a:solidFill>
              <a:srgbClr val="0D4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7"/>
          <p:cNvSpPr/>
          <p:nvPr/>
        </p:nvSpPr>
        <p:spPr>
          <a:xfrm>
            <a:off x="411480" y="1627632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Distribuição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7"/>
          <p:cNvSpPr/>
          <p:nvPr/>
        </p:nvSpPr>
        <p:spPr>
          <a:xfrm>
            <a:off x="1920240" y="1627632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Chutes por jogador/jogo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7"/>
          <p:cNvSpPr/>
          <p:nvPr/>
        </p:nvSpPr>
        <p:spPr>
          <a:xfrm>
            <a:off x="4389120" y="1627632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Meias aumentaram; atacantes de ofício diminuíram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7"/>
          <p:cNvSpPr/>
          <p:nvPr/>
        </p:nvSpPr>
        <p:spPr>
          <a:xfrm>
            <a:off x="320040" y="2249424"/>
            <a:ext cx="8503920" cy="576072"/>
          </a:xfrm>
          <a:prstGeom prst="rect">
            <a:avLst/>
          </a:prstGeom>
          <a:solidFill>
            <a:srgbClr val="0A3D6B"/>
          </a:solidFill>
          <a:ln cap="flat" cmpd="sng" w="12700">
            <a:solidFill>
              <a:srgbClr val="0A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7"/>
          <p:cNvSpPr/>
          <p:nvPr/>
        </p:nvSpPr>
        <p:spPr>
          <a:xfrm>
            <a:off x="411480" y="2249424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Posicional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7"/>
          <p:cNvSpPr/>
          <p:nvPr/>
        </p:nvSpPr>
        <p:spPr>
          <a:xfrm>
            <a:off x="1920240" y="2249424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Finalização por posição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7"/>
          <p:cNvSpPr/>
          <p:nvPr/>
        </p:nvSpPr>
        <p:spPr>
          <a:xfrm>
            <a:off x="4389120" y="2249424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Meio-campo absorveu a função do centroavante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7"/>
          <p:cNvSpPr/>
          <p:nvPr/>
        </p:nvSpPr>
        <p:spPr>
          <a:xfrm>
            <a:off x="320040" y="2871216"/>
            <a:ext cx="8503920" cy="576072"/>
          </a:xfrm>
          <a:prstGeom prst="rect">
            <a:avLst/>
          </a:prstGeom>
          <a:solidFill>
            <a:srgbClr val="0D4A80"/>
          </a:solidFill>
          <a:ln cap="flat" cmpd="sng" w="12700">
            <a:solidFill>
              <a:srgbClr val="0D4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7"/>
          <p:cNvSpPr/>
          <p:nvPr/>
        </p:nvSpPr>
        <p:spPr>
          <a:xfrm>
            <a:off x="411480" y="2871216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Concentração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7"/>
          <p:cNvSpPr/>
          <p:nvPr/>
        </p:nvSpPr>
        <p:spPr>
          <a:xfrm>
            <a:off x="1920240" y="2871216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Índice HHI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7"/>
          <p:cNvSpPr/>
          <p:nvPr/>
        </p:nvSpPr>
        <p:spPr>
          <a:xfrm>
            <a:off x="4389120" y="2871216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HHI menor na Fase 3 — maior coletivismo ofensivo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7"/>
          <p:cNvSpPr/>
          <p:nvPr/>
        </p:nvSpPr>
        <p:spPr>
          <a:xfrm>
            <a:off x="320040" y="3493008"/>
            <a:ext cx="8503920" cy="576072"/>
          </a:xfrm>
          <a:prstGeom prst="rect">
            <a:avLst/>
          </a:prstGeom>
          <a:solidFill>
            <a:srgbClr val="0A3D6B"/>
          </a:solidFill>
          <a:ln cap="flat" cmpd="sng" w="12700">
            <a:solidFill>
              <a:srgbClr val="0A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7"/>
          <p:cNvSpPr/>
          <p:nvPr/>
        </p:nvSpPr>
        <p:spPr>
          <a:xfrm>
            <a:off x="411480" y="3493008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Funcional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7"/>
          <p:cNvSpPr/>
          <p:nvPr/>
        </p:nvSpPr>
        <p:spPr>
          <a:xfrm>
            <a:off x="1920240" y="3493008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Caso Gündogan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7"/>
          <p:cNvSpPr/>
          <p:nvPr/>
        </p:nvSpPr>
        <p:spPr>
          <a:xfrm>
            <a:off x="4389120" y="3493008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Meia tornou-se artilheiro atuando nas zonas do 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320040" y="4114800"/>
            <a:ext cx="8503920" cy="576072"/>
          </a:xfrm>
          <a:prstGeom prst="rect">
            <a:avLst/>
          </a:prstGeom>
          <a:solidFill>
            <a:srgbClr val="0D4A80"/>
          </a:solidFill>
          <a:ln cap="flat" cmpd="sng" w="12700">
            <a:solidFill>
              <a:srgbClr val="0D4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411480" y="4114800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Qualidade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1920240" y="4114800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xG por chute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7"/>
          <p:cNvSpPr/>
          <p:nvPr/>
        </p:nvSpPr>
        <p:spPr>
          <a:xfrm>
            <a:off x="4389120" y="4114800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Manutenção ou elevação da qualidade das chances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346A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8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8"/>
          <p:cNvSpPr/>
          <p:nvPr/>
        </p:nvSpPr>
        <p:spPr>
          <a:xfrm>
            <a:off x="731520" y="32004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A Tese Central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8"/>
          <p:cNvSpPr/>
          <p:nvPr/>
        </p:nvSpPr>
        <p:spPr>
          <a:xfrm>
            <a:off x="731520" y="868680"/>
            <a:ext cx="8001000" cy="1005840"/>
          </a:xfrm>
          <a:prstGeom prst="rect">
            <a:avLst/>
          </a:prstGeom>
          <a:solidFill>
            <a:srgbClr val="0A3D6B"/>
          </a:solidFill>
          <a:ln cap="flat" cmpd="sng" w="1905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8"/>
          <p:cNvSpPr/>
          <p:nvPr/>
        </p:nvSpPr>
        <p:spPr>
          <a:xfrm>
            <a:off x="822960" y="868680"/>
            <a:ext cx="7818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"No sistema de Guardiola, a zona exerce o papel do centroavante."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8"/>
          <p:cNvSpPr/>
          <p:nvPr/>
        </p:nvSpPr>
        <p:spPr>
          <a:xfrm>
            <a:off x="731520" y="2084832"/>
            <a:ext cx="384048" cy="384048"/>
          </a:xfrm>
          <a:prstGeom prst="ellipse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8"/>
          <p:cNvSpPr/>
          <p:nvPr/>
        </p:nvSpPr>
        <p:spPr>
          <a:xfrm>
            <a:off x="731520" y="208483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8"/>
          <p:cNvSpPr/>
          <p:nvPr/>
        </p:nvSpPr>
        <p:spPr>
          <a:xfrm>
            <a:off x="1234440" y="2011680"/>
            <a:ext cx="7498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PERFIL DE SCOUTING  </a:t>
            </a: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Jogadores como Gündogan — com posicionamento inteligente, chegada tardia e qualidade de finalização — são mais compatíveis com sistemas de falso 9 do que centroavantes tradicionais.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8"/>
          <p:cNvSpPr/>
          <p:nvPr/>
        </p:nvSpPr>
        <p:spPr>
          <a:xfrm>
            <a:off x="731520" y="2953512"/>
            <a:ext cx="384048" cy="384048"/>
          </a:xfrm>
          <a:prstGeom prst="ellipse">
            <a:avLst/>
          </a:prstGeom>
          <a:solidFill>
            <a:srgbClr val="4A9FD4"/>
          </a:solidFill>
          <a:ln cap="flat" cmpd="sng" w="12700">
            <a:solidFill>
              <a:srgbClr val="4A9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8"/>
          <p:cNvSpPr/>
          <p:nvPr/>
        </p:nvSpPr>
        <p:spPr>
          <a:xfrm>
            <a:off x="731520" y="295351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8"/>
          <p:cNvSpPr/>
          <p:nvPr/>
        </p:nvSpPr>
        <p:spPr>
          <a:xfrm>
            <a:off x="1234440" y="2880360"/>
            <a:ext cx="7498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FD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A9FD4"/>
                </a:solidFill>
                <a:latin typeface="Calibri"/>
                <a:ea typeface="Calibri"/>
                <a:cs typeface="Calibri"/>
                <a:sym typeface="Calibri"/>
              </a:rPr>
              <a:t>MÉTRICAS SISTÊMICAS  </a:t>
            </a: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'xG criado pelo sistema' é mais informativo do que 'xG individual do atacante' ao avaliar times de posse e posicionamento.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8"/>
          <p:cNvSpPr/>
          <p:nvPr/>
        </p:nvSpPr>
        <p:spPr>
          <a:xfrm>
            <a:off x="731520" y="3822192"/>
            <a:ext cx="384048" cy="384048"/>
          </a:xfrm>
          <a:prstGeom prst="ellipse">
            <a:avLst/>
          </a:prstGeom>
          <a:solidFill>
            <a:srgbClr val="5CB85C"/>
          </a:solidFill>
          <a:ln cap="flat" cmpd="sng" w="12700">
            <a:solidFill>
              <a:srgbClr val="5CB8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8"/>
          <p:cNvSpPr/>
          <p:nvPr/>
        </p:nvSpPr>
        <p:spPr>
          <a:xfrm>
            <a:off x="731520" y="382219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8"/>
          <p:cNvSpPr/>
          <p:nvPr/>
        </p:nvSpPr>
        <p:spPr>
          <a:xfrm>
            <a:off x="1234440" y="3749040"/>
            <a:ext cx="7498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CB85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5CB85C"/>
                </a:solidFill>
                <a:latin typeface="Calibri"/>
                <a:ea typeface="Calibri"/>
                <a:cs typeface="Calibri"/>
                <a:sym typeface="Calibri"/>
              </a:rPr>
              <a:t>RESILIÊNCIA ESTRUTURAL  </a:t>
            </a: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O sistema gera a função do centroavante como propriedade emergente do coletivo — não como atribuição individual. Modelo estruturalmente mais resiliente a lesões e indisponibilidades.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8"/>
          <p:cNvSpPr/>
          <p:nvPr/>
        </p:nvSpPr>
        <p:spPr>
          <a:xfrm>
            <a:off x="731520" y="4617720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"O futebol de posição de Guardiola é o mais próximo que o futebol chegou de uma coreografia coletiva consciente." — Spielverlagerung, 2014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9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Limitações Metodológicas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9"/>
          <p:cNvSpPr/>
          <p:nvPr/>
        </p:nvSpPr>
        <p:spPr>
          <a:xfrm>
            <a:off x="320040" y="1051560"/>
            <a:ext cx="8503920" cy="109728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9"/>
          <p:cNvSpPr/>
          <p:nvPr/>
        </p:nvSpPr>
        <p:spPr>
          <a:xfrm>
            <a:off x="320040" y="1051560"/>
            <a:ext cx="54864" cy="10972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9"/>
          <p:cNvSpPr/>
          <p:nvPr/>
        </p:nvSpPr>
        <p:spPr>
          <a:xfrm>
            <a:off x="457200" y="114300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⚠  Dados apenas de finalização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9"/>
          <p:cNvSpPr/>
          <p:nvPr/>
        </p:nvSpPr>
        <p:spPr>
          <a:xfrm>
            <a:off x="457200" y="1435608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Understat fornece somente eventos de chute. Análises de posse, pressão, passes progressivos e controle territorial requerem fontes complementares como Statsbomb ou Wyscout.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9"/>
          <p:cNvSpPr/>
          <p:nvPr/>
        </p:nvSpPr>
        <p:spPr>
          <a:xfrm>
            <a:off x="320040" y="2221992"/>
            <a:ext cx="8503920" cy="109728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20040" y="2221992"/>
            <a:ext cx="54864" cy="10972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457200" y="231343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⚠  Ausência de controle por adversário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qualidade dos adversários varia significativamente entre as fases — times mais fracos podem inflar o xG e a taxa de conversão na Fase 3.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320040" y="3392424"/>
            <a:ext cx="8503920" cy="109728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9"/>
          <p:cNvSpPr/>
          <p:nvPr/>
        </p:nvSpPr>
        <p:spPr>
          <a:xfrm>
            <a:off x="320040" y="3392424"/>
            <a:ext cx="54864" cy="10972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457200" y="348386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⚠  Causalidade vs. correlação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9"/>
          <p:cNvSpPr/>
          <p:nvPr/>
        </p:nvSpPr>
        <p:spPr>
          <a:xfrm>
            <a:off x="457200" y="377647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Os dados mostram que as mudanças ocorreram após a lesão do Agüero, mas não isolam causalidade direta — calendário, forma individual, fatores externos (COVID) também influenciam.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Dados: Understat via soccerdata (Python)  ·  Análise: Python (pandas, mplsoccer, seaborn, scipy)  ·  Premier League 2020/21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